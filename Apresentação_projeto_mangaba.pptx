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74" r:id="rId10"/>
    <p:sldId id="275" r:id="rId11"/>
    <p:sldId id="276" r:id="rId12"/>
    <p:sldId id="277" r:id="rId13"/>
    <p:sldId id="263" r:id="rId14"/>
    <p:sldId id="264" r:id="rId15"/>
    <p:sldId id="265" r:id="rId16"/>
    <p:sldId id="266" r:id="rId17"/>
    <p:sldId id="267" r:id="rId18"/>
    <p:sldId id="27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A9C4"/>
    <a:srgbClr val="FBF7EF"/>
    <a:srgbClr val="1E3C2A"/>
    <a:srgbClr val="294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79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6700-E37D-B9D4-1FD9-D3FFFE09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ED69-DD0F-3150-6C71-64A4DA1E3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768F0-E140-907A-45F6-41121A378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E2698-6218-0BB7-A334-38D250692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52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38FE-C439-72CA-EA73-D4DBFFBE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7AE12-D319-3FE5-A377-EAEE631B7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32A2E-9E5A-D6CC-AD71-F09E122FE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AC9E4-D577-25E5-6868-5A24B9420B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5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D2A3-DBB2-8935-78D5-20A42242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1A2BF-21BD-E18D-221B-A0F4E826F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F42D5-0C46-404E-70D0-18B02C8FF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4B389-A5CE-BF0A-F016-00512C672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15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ic_fruit_w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784080" y="4206240"/>
            <a:ext cx="1828800" cy="1828800"/>
          </a:xfrm>
          <a:prstGeom prst="rect">
            <a:avLst/>
          </a:prstGeom>
        </p:spPr>
      </p:pic>
      <p:pic>
        <p:nvPicPr>
          <p:cNvPr id="3" name="Image 1" descr="images/ic_microbe_w.png"/>
          <p:cNvPicPr>
            <a:picLocks noChangeAspect="1"/>
          </p:cNvPicPr>
          <p:nvPr/>
        </p:nvPicPr>
        <p:blipFill>
          <a:blip r:embed="rId4">
            <a:alphaModFix amt="32000"/>
          </a:blip>
          <a:stretch>
            <a:fillRect/>
          </a:stretch>
        </p:blipFill>
        <p:spPr>
          <a:xfrm>
            <a:off x="9921240" y="50292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BIOINFORMÁTICA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22960" y="16002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Analysis of Gut Microbiome Responses to Mangaba Tea Supplementation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868680" y="3794760"/>
            <a:ext cx="457200" cy="64008"/>
          </a:xfrm>
          <a:prstGeom prst="rect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3"/>
          <p:cNvSpPr/>
          <p:nvPr/>
        </p:nvSpPr>
        <p:spPr>
          <a:xfrm>
            <a:off x="868680" y="4069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Oliveira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Orientadoras: Andreia Salvador · Clarisse Nobre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</a:t>
            </a:r>
            <a:r>
              <a:rPr lang="en-US" sz="1300">
                <a:solidFill>
                  <a:srgbClr val="8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Minho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868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mic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Microbiota intestinal e o papel da dieta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microbiano complexo, central na digestão, imunidade e homeostase intestinal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disbiose associa-se a doença inflamatória intestinal, obesidade e diabetes tipo 2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é fortemente influenciada pela </a:t>
            </a:r>
            <a:r>
              <a:rPr lang="en-US" sz="15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</a:t>
            </a: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particularmente</a:t>
            </a: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fibras e compostos bioativos vegetais (polifenóis)</a:t>
            </a:r>
            <a:endParaRPr lang="en-US" sz="15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5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fermentação microbiana origina ácidos gordos de cadeia curta (SCFAs)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5720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pic>
        <p:nvPicPr>
          <p:cNvPr id="8" name="Image 1" descr="images/ic_seed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03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142EFAD-E3A2-2C0A-8BDF-42B3EE932F04}"/>
              </a:ext>
            </a:extLst>
          </p:cNvPr>
          <p:cNvSpPr/>
          <p:nvPr/>
        </p:nvSpPr>
        <p:spPr>
          <a:xfrm>
            <a:off x="6812280" y="2240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~1 800</a:t>
            </a:r>
            <a:endParaRPr lang="en-US" sz="28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6E64F8B-657E-0FE6-89A6-CB9DFB48BD90}"/>
              </a:ext>
            </a:extLst>
          </p:cNvPr>
          <p:cNvSpPr/>
          <p:nvPr/>
        </p:nvSpPr>
        <p:spPr>
          <a:xfrm>
            <a:off x="708660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 bacterianos</a:t>
            </a:r>
            <a:endParaRPr lang="en-US" sz="16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20D4E6D-3F0E-F797-FEE1-5243C7B8B6EE}"/>
              </a:ext>
            </a:extLst>
          </p:cNvPr>
          <p:cNvSpPr/>
          <p:nvPr/>
        </p:nvSpPr>
        <p:spPr>
          <a:xfrm>
            <a:off x="7178040" y="329184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intestino humano</a:t>
            </a:r>
            <a:endParaRPr lang="en-US" sz="115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12A49A2-9743-BDFD-E339-69B4B5D9B3DE}"/>
              </a:ext>
            </a:extLst>
          </p:cNvPr>
          <p:cNvSpPr/>
          <p:nvPr/>
        </p:nvSpPr>
        <p:spPr>
          <a:xfrm>
            <a:off x="6903720" y="3511296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15 000 – </a:t>
            </a: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r>
              <a:rPr lang="en-US" sz="3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000</a:t>
            </a:r>
            <a:endParaRPr lang="en-US" sz="3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DDCA0B1-6AF8-B219-31EF-CF6D013A9680}"/>
              </a:ext>
            </a:extLst>
          </p:cNvPr>
          <p:cNvSpPr/>
          <p:nvPr/>
        </p:nvSpPr>
        <p:spPr>
          <a:xfrm>
            <a:off x="7109460" y="4225359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espécies estimadas</a:t>
            </a:r>
            <a:endParaRPr lang="en-US" sz="1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20EB2AD-BE1C-06DA-8A6B-5475FA239221}"/>
              </a:ext>
            </a:extLst>
          </p:cNvPr>
          <p:cNvSpPr/>
          <p:nvPr/>
        </p:nvSpPr>
        <p:spPr>
          <a:xfrm>
            <a:off x="7178040" y="46085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taxonómica extraordinária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6E149A65-2B64-2F86-EB2C-2DEF050A4A2C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886CF6B-5BDA-4A71-BD96-C3CF5D208071}"/>
              </a:ext>
            </a:extLst>
          </p:cNvPr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4" name="Image 0" descr="images/ic_fruit.png">
            <a:extLst>
              <a:ext uri="{FF2B5EF4-FFF2-40B4-BE49-F238E27FC236}">
                <a16:creationId xmlns:a16="http://schemas.microsoft.com/office/drawing/2014/main" id="{CC328155-BB25-B398-CE05-879E56995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37497455-5D2F-D7B2-DB92-FC51DC5BFEE6}"/>
              </a:ext>
            </a:extLst>
          </p:cNvPr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Hancornia speciosa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(mangaba)</a:t>
            </a:r>
            <a:endParaRPr lang="en-US" sz="2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46611B9-A7F3-79EB-D549-65A11A66685B}"/>
              </a:ext>
            </a:extLst>
          </p:cNvPr>
          <p:cNvSpPr/>
          <p:nvPr/>
        </p:nvSpPr>
        <p:spPr>
          <a:xfrm>
            <a:off x="548640" y="1783080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 tropical nativo do Brasil, do bioma Cerrado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 em compostos bioativos: polifenóis, carotenoides e triterpenos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antioxidantes, anti-inflamatórias e antidiabéticas descritas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6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sobre a microbiota intestinal ainda pouco explorado</a:t>
            </a:r>
            <a:endParaRPr lang="en-US" sz="16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85E1407-5C4E-5293-6195-8EDD8A016D81}"/>
              </a:ext>
            </a:extLst>
          </p:cNvPr>
          <p:cNvSpPr/>
          <p:nvPr/>
        </p:nvSpPr>
        <p:spPr>
          <a:xfrm>
            <a:off x="7498080" y="178308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2F38325-89D2-2A8D-BD6D-07AABEFCD6E7}"/>
              </a:ext>
            </a:extLst>
          </p:cNvPr>
          <p:cNvSpPr/>
          <p:nvPr/>
        </p:nvSpPr>
        <p:spPr>
          <a:xfrm>
            <a:off x="7498080" y="1783080"/>
            <a:ext cx="4114800" cy="640080"/>
          </a:xfrm>
          <a:prstGeom prst="rect">
            <a:avLst/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mage 1" descr="images/ic_leaf.png">
            <a:extLst>
              <a:ext uri="{FF2B5EF4-FFF2-40B4-BE49-F238E27FC236}">
                <a16:creationId xmlns:a16="http://schemas.microsoft.com/office/drawing/2014/main" id="{99CBDB7F-8840-C578-4EC0-CB5A762EA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92808"/>
            <a:ext cx="420624" cy="420624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A0852404-9B29-D6FA-B1E8-6557A8F4E1B9}"/>
              </a:ext>
            </a:extLst>
          </p:cNvPr>
          <p:cNvSpPr/>
          <p:nvPr/>
        </p:nvSpPr>
        <p:spPr>
          <a:xfrm>
            <a:off x="818388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Polifenóis principais</a:t>
            </a:r>
            <a:endParaRPr lang="en-US" sz="1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BDC4ADD-6D12-E3DC-AA3C-C598E8C5346E}"/>
              </a:ext>
            </a:extLst>
          </p:cNvPr>
          <p:cNvSpPr/>
          <p:nvPr/>
        </p:nvSpPr>
        <p:spPr>
          <a:xfrm>
            <a:off x="768096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Rutina</a:t>
            </a:r>
            <a:endParaRPr lang="en-US" sz="22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646879D-14EF-0358-DE01-D86DEECDB525}"/>
              </a:ext>
            </a:extLst>
          </p:cNvPr>
          <p:cNvSpPr/>
          <p:nvPr/>
        </p:nvSpPr>
        <p:spPr>
          <a:xfrm>
            <a:off x="76809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flavonoide</a:t>
            </a:r>
            <a:endParaRPr lang="en-US" sz="11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3F35C80-7EF4-33AB-165E-DB9D67CEF6A3}"/>
              </a:ext>
            </a:extLst>
          </p:cNvPr>
          <p:cNvSpPr/>
          <p:nvPr/>
        </p:nvSpPr>
        <p:spPr>
          <a:xfrm>
            <a:off x="768096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Ácido clorogénico</a:t>
            </a:r>
            <a:endParaRPr lang="en-US" sz="2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7B5D8CD-BEBC-B28A-1CB1-808B6E93E213}"/>
              </a:ext>
            </a:extLst>
          </p:cNvPr>
          <p:cNvSpPr/>
          <p:nvPr/>
        </p:nvSpPr>
        <p:spPr>
          <a:xfrm>
            <a:off x="768096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fenólico</a:t>
            </a:r>
            <a:endParaRPr lang="en-US" sz="11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68F90485-B0AE-B936-5850-A5355B8F3BA7}"/>
              </a:ext>
            </a:extLst>
          </p:cNvPr>
          <p:cNvSpPr/>
          <p:nvPr/>
        </p:nvSpPr>
        <p:spPr>
          <a:xfrm>
            <a:off x="7680960" y="4434840"/>
            <a:ext cx="3749040" cy="27432"/>
          </a:xfrm>
          <a:prstGeom prst="rect">
            <a:avLst/>
          </a:prstGeom>
          <a:solidFill>
            <a:srgbClr val="E2E7E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C67028B-EEF8-3F73-F255-E2C8F03A09DE}"/>
              </a:ext>
            </a:extLst>
          </p:cNvPr>
          <p:cNvSpPr/>
          <p:nvPr/>
        </p:nvSpPr>
        <p:spPr>
          <a:xfrm>
            <a:off x="768096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Compostos com bioatividade descrita e potencial efeito prebiótico-like sobre a microbiota intestinal.</a:t>
            </a:r>
            <a:endParaRPr lang="en-US" sz="115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4661FC7-7F87-35B0-1808-1D3575B08CB4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EXPERIMENTAL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experimental — fermentação </a:t>
            </a:r>
            <a:r>
              <a:rPr lang="en-US" sz="2600" b="1" i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vitro</a:t>
            </a:r>
            <a:endParaRPr lang="en-US" sz="2600" i="1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48640" y="1847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61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biológicas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/>
          <p:nvPr/>
        </p:nvSpPr>
        <p:spPr>
          <a:xfrm>
            <a:off x="3154680" y="1847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h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15468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INCUBAÇÃO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154680" y="2761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anaeróbia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F3D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2"/>
          <p:cNvSpPr/>
          <p:nvPr/>
        </p:nvSpPr>
        <p:spPr>
          <a:xfrm>
            <a:off x="5760720" y="1847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760720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760720" y="2761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6 condições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17373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3E6B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9" name="Text 16"/>
          <p:cNvSpPr/>
          <p:nvPr/>
        </p:nvSpPr>
        <p:spPr>
          <a:xfrm>
            <a:off x="8366760" y="18470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16S rRNA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36676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V4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66760" y="27614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paired-end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Text 20"/>
          <p:cNvSpPr/>
          <p:nvPr/>
        </p:nvSpPr>
        <p:spPr>
          <a:xfrm>
            <a:off x="548640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Inoculum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94360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 — microbiota inicial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455164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2455164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500884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negativo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361688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29" name="Text 26"/>
          <p:cNvSpPr/>
          <p:nvPr/>
        </p:nvSpPr>
        <p:spPr>
          <a:xfrm>
            <a:off x="4361688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FrutaloseOFP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407408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oligofructose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68212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32" name="Text 29"/>
          <p:cNvSpPr/>
          <p:nvPr/>
        </p:nvSpPr>
        <p:spPr>
          <a:xfrm>
            <a:off x="6268212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FrutafitIQ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313932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inulina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174736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C9852A"/>
          </a:solidFill>
          <a:ln w="12700">
            <a:solidFill>
              <a:srgbClr val="C98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5" name="Text 32"/>
          <p:cNvSpPr/>
          <p:nvPr/>
        </p:nvSpPr>
        <p:spPr>
          <a:xfrm>
            <a:off x="8174736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MangabaPulp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220456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polpa de mangaba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0081260" y="3429000"/>
            <a:ext cx="1828800" cy="914400"/>
          </a:xfrm>
          <a:prstGeom prst="roundRect">
            <a:avLst>
              <a:gd name="adj" fmla="val 7000"/>
            </a:avLst>
          </a:prstGeom>
          <a:solidFill>
            <a:srgbClr val="C9852A"/>
          </a:solidFill>
          <a:ln w="12700">
            <a:solidFill>
              <a:srgbClr val="C98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8" name="Text 35"/>
          <p:cNvSpPr/>
          <p:nvPr/>
        </p:nvSpPr>
        <p:spPr>
          <a:xfrm>
            <a:off x="10081260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MangabaExt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0126980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de mangaba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1" name="Image 1" descr="images/ic_v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83480"/>
            <a:ext cx="457200" cy="4572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371600" y="473659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Caracterização da mangaba   </a:t>
            </a: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aquoso: 111,23 µg eq. ácido clorogénico/mL (Folin-Ciocalteu); ácido clorogénico e rutina por CLAE-DAD. Polpa: caracterizada quanto ao teor de fibras alimentares.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1A4CB-3109-0CF7-AA58-C668A309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>
            <a:extLst>
              <a:ext uri="{FF2B5EF4-FFF2-40B4-BE49-F238E27FC236}">
                <a16:creationId xmlns:a16="http://schemas.microsoft.com/office/drawing/2014/main" id="{867D5D7F-AA39-4475-898F-21891F734C10}"/>
              </a:ext>
            </a:extLst>
          </p:cNvPr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2F804ED3-20F3-091D-04B8-35EF782197BE}"/>
              </a:ext>
            </a:extLst>
          </p:cNvPr>
          <p:cNvSpPr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propõe este trabalho</a:t>
            </a:r>
            <a:endParaRPr lang="en-US" sz="2600" dirty="0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1DF43604-B8AE-9163-8D20-FA74DF5DC3D5}"/>
              </a:ext>
            </a:extLst>
          </p:cNvPr>
          <p:cNvSpPr/>
          <p:nvPr/>
        </p:nvSpPr>
        <p:spPr>
          <a:xfrm>
            <a:off x="1097280" y="2011680"/>
            <a:ext cx="9966960" cy="1828800"/>
          </a:xfrm>
          <a:prstGeom prst="roundRect">
            <a:avLst>
              <a:gd name="adj" fmla="val 5000"/>
            </a:avLst>
          </a:prstGeom>
          <a:solidFill>
            <a:srgbClr val="2A4D38"/>
          </a:solidFill>
          <a:ln w="25400">
            <a:solidFill>
              <a:srgbClr val="C98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5A16B978-51AE-962E-A1F1-713A5B6EBF9F}"/>
              </a:ext>
            </a:extLst>
          </p:cNvPr>
          <p:cNvSpPr/>
          <p:nvPr/>
        </p:nvSpPr>
        <p:spPr>
          <a:xfrm>
            <a:off x="1371600" y="210312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Utilizar ferramentas bioinformáticas</a:t>
            </a: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a </a:t>
            </a:r>
            <a:r>
              <a:rPr lang="en-US" sz="1800" b="1" dirty="0">
                <a:solidFill>
                  <a:srgbClr val="F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taxonómica</a:t>
            </a: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das amostras experimentais, identificar microorganismos que se tornaram mais abundantes e </a:t>
            </a:r>
            <a:r>
              <a:rPr lang="en-US" sz="1800" b="1" dirty="0">
                <a:solidFill>
                  <a:srgbClr val="F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inferir sobre a sua função</a:t>
            </a: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 microbiota intestinal.</a:t>
            </a:r>
            <a:endParaRPr lang="en-US" sz="1800" dirty="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1FAD542A-8A27-BD10-4B37-E64C5DD8769A}"/>
              </a:ext>
            </a:extLst>
          </p:cNvPr>
          <p:cNvSpPr/>
          <p:nvPr/>
        </p:nvSpPr>
        <p:spPr>
          <a:xfrm>
            <a:off x="548640" y="429768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246F558A-7BF4-9DFE-EC70-EBD8F85E6894}"/>
              </a:ext>
            </a:extLst>
          </p:cNvPr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BC3D7B81-CADB-B7B4-1571-26EE7DE75EA6}"/>
              </a:ext>
            </a:extLst>
          </p:cNvPr>
          <p:cNvSpPr/>
          <p:nvPr/>
        </p:nvSpPr>
        <p:spPr>
          <a:xfrm>
            <a:off x="7772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BFD0D25D-6B43-3875-CEE8-CDA892708777}"/>
              </a:ext>
            </a:extLst>
          </p:cNvPr>
          <p:cNvSpPr/>
          <p:nvPr/>
        </p:nvSpPr>
        <p:spPr>
          <a:xfrm>
            <a:off x="1417320" y="4544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taxonómica</a:t>
            </a:r>
            <a:endParaRPr lang="en-US" sz="15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0B7B290E-2967-9A80-5470-20D7AABD8F53}"/>
              </a:ext>
            </a:extLst>
          </p:cNvPr>
          <p:cNvSpPr/>
          <p:nvPr/>
        </p:nvSpPr>
        <p:spPr>
          <a:xfrm>
            <a:off x="822960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microorganismos estão presentes em cada condição?</a:t>
            </a:r>
            <a:endParaRPr lang="en-US" sz="1150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BB88C029-5713-A636-5AF0-4693C460A991}"/>
              </a:ext>
            </a:extLst>
          </p:cNvPr>
          <p:cNvSpPr/>
          <p:nvPr/>
        </p:nvSpPr>
        <p:spPr>
          <a:xfrm>
            <a:off x="4325112" y="429768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B7D1E154-345C-3400-1A8A-0A85D6C0436F}"/>
              </a:ext>
            </a:extLst>
          </p:cNvPr>
          <p:cNvSpPr/>
          <p:nvPr/>
        </p:nvSpPr>
        <p:spPr>
          <a:xfrm>
            <a:off x="4553712" y="4526280"/>
            <a:ext cx="502920" cy="50292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188B389C-EDDA-5AAA-2AC7-8BB26CB31305}"/>
              </a:ext>
            </a:extLst>
          </p:cNvPr>
          <p:cNvSpPr/>
          <p:nvPr/>
        </p:nvSpPr>
        <p:spPr>
          <a:xfrm>
            <a:off x="4553712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716AB247-4B86-78A6-2ADF-A546B69DCBC4}"/>
              </a:ext>
            </a:extLst>
          </p:cNvPr>
          <p:cNvSpPr/>
          <p:nvPr/>
        </p:nvSpPr>
        <p:spPr>
          <a:xfrm>
            <a:off x="5193792" y="4544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Identificação de taxa</a:t>
            </a:r>
            <a:endParaRPr lang="en-US" sz="15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3DF75E32-BA16-6030-02DC-3D90FC89FD9D}"/>
              </a:ext>
            </a:extLst>
          </p:cNvPr>
          <p:cNvSpPr/>
          <p:nvPr/>
        </p:nvSpPr>
        <p:spPr>
          <a:xfrm>
            <a:off x="4599432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aumentaram com cada substrato?</a:t>
            </a:r>
            <a:endParaRPr lang="en-US" sz="115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CFD69CEA-2D59-901A-4391-DCF57F868B06}"/>
              </a:ext>
            </a:extLst>
          </p:cNvPr>
          <p:cNvSpPr/>
          <p:nvPr/>
        </p:nvSpPr>
        <p:spPr>
          <a:xfrm>
            <a:off x="8101584" y="4297680"/>
            <a:ext cx="36576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1C2E680C-54A8-9037-87AD-E0239B12C2F2}"/>
              </a:ext>
            </a:extLst>
          </p:cNvPr>
          <p:cNvSpPr/>
          <p:nvPr/>
        </p:nvSpPr>
        <p:spPr>
          <a:xfrm>
            <a:off x="8330184" y="4526280"/>
            <a:ext cx="502920" cy="50292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7201379F-45CE-C687-8304-49EC08A70504}"/>
              </a:ext>
            </a:extLst>
          </p:cNvPr>
          <p:cNvSpPr/>
          <p:nvPr/>
        </p:nvSpPr>
        <p:spPr>
          <a:xfrm>
            <a:off x="8330184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A7FC4803-2387-B27A-9A08-392830564AB6}"/>
              </a:ext>
            </a:extLst>
          </p:cNvPr>
          <p:cNvSpPr/>
          <p:nvPr/>
        </p:nvSpPr>
        <p:spPr>
          <a:xfrm>
            <a:off x="8970264" y="4544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Inferência funcional</a:t>
            </a:r>
            <a:endParaRPr lang="en-US" sz="1500" dirty="0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A8D9A018-87FB-55C4-0958-8EBD0111C605}"/>
              </a:ext>
            </a:extLst>
          </p:cNvPr>
          <p:cNvSpPr/>
          <p:nvPr/>
        </p:nvSpPr>
        <p:spPr>
          <a:xfrm>
            <a:off x="8375904" y="5166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papel desempenham na microbiota intestinal?</a:t>
            </a:r>
            <a:endParaRPr lang="en-US" sz="115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BA7E07DB-8226-55C5-4BA0-3CC778AC37E4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8802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4979E758-48A1-6A2B-F42A-7BCF2455E4EA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1B90A489-8DC1-5E9C-4805-D4518F0AB311}"/>
              </a:ext>
            </a:extLst>
          </p:cNvPr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5" name="Image 0" descr="images/ic_pipeline.png">
            <a:extLst>
              <a:ext uri="{FF2B5EF4-FFF2-40B4-BE49-F238E27FC236}">
                <a16:creationId xmlns:a16="http://schemas.microsoft.com/office/drawing/2014/main" id="{068F25B9-65A5-B73D-B32D-7F132A2B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36" name="Text 2">
            <a:extLst>
              <a:ext uri="{FF2B5EF4-FFF2-40B4-BE49-F238E27FC236}">
                <a16:creationId xmlns:a16="http://schemas.microsoft.com/office/drawing/2014/main" id="{6883AE0F-0D88-E218-21E2-7C495A989A72}"/>
              </a:ext>
            </a:extLst>
          </p:cNvPr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bioinformática — visão geral</a:t>
            </a:r>
            <a:endParaRPr lang="en-US" sz="24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43C0892E-61C8-ABA8-281E-33DDAE5F52A1}"/>
              </a:ext>
            </a:extLst>
          </p:cNvPr>
          <p:cNvSpPr/>
          <p:nvPr/>
        </p:nvSpPr>
        <p:spPr>
          <a:xfrm>
            <a:off x="914400" y="201168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62FF068E-1EA7-D78F-34A1-3B6D72A5AF97}"/>
              </a:ext>
            </a:extLst>
          </p:cNvPr>
          <p:cNvSpPr/>
          <p:nvPr/>
        </p:nvSpPr>
        <p:spPr>
          <a:xfrm>
            <a:off x="1143000" y="2240280"/>
            <a:ext cx="457200" cy="457200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D5740F92-3511-8706-F01A-8098FC57FAEC}"/>
              </a:ext>
            </a:extLst>
          </p:cNvPr>
          <p:cNvSpPr/>
          <p:nvPr/>
        </p:nvSpPr>
        <p:spPr>
          <a:xfrm>
            <a:off x="1143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A0242C05-8EE5-01B4-A281-9597A449844E}"/>
              </a:ext>
            </a:extLst>
          </p:cNvPr>
          <p:cNvSpPr/>
          <p:nvPr/>
        </p:nvSpPr>
        <p:spPr>
          <a:xfrm>
            <a:off x="1783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Sequenciação 16S rRNA   </a:t>
            </a:r>
            <a:r>
              <a:rPr lang="en-US" sz="12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V4 · Illumina paired-end</a:t>
            </a:r>
            <a:endParaRPr lang="en-US" sz="1600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117175DC-818F-5A84-7AA6-BFD47FFB9112}"/>
              </a:ext>
            </a:extLst>
          </p:cNvPr>
          <p:cNvSpPr/>
          <p:nvPr/>
        </p:nvSpPr>
        <p:spPr>
          <a:xfrm>
            <a:off x="914400" y="3090672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27BE6AF4-4416-7246-AF21-F6242C5B5B53}"/>
              </a:ext>
            </a:extLst>
          </p:cNvPr>
          <p:cNvSpPr/>
          <p:nvPr/>
        </p:nvSpPr>
        <p:spPr>
          <a:xfrm>
            <a:off x="1143000" y="3319272"/>
            <a:ext cx="457200" cy="457200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58879190-F4C1-37EF-4DF1-6EFDD5EBA7E3}"/>
              </a:ext>
            </a:extLst>
          </p:cNvPr>
          <p:cNvSpPr/>
          <p:nvPr/>
        </p:nvSpPr>
        <p:spPr>
          <a:xfrm>
            <a:off x="11430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1C4A3C5-A01E-F5CB-9E84-1C73F7B2B26A}"/>
              </a:ext>
            </a:extLst>
          </p:cNvPr>
          <p:cNvSpPr/>
          <p:nvPr/>
        </p:nvSpPr>
        <p:spPr>
          <a:xfrm>
            <a:off x="1783080" y="3090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600" b="1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Novogene</a:t>
            </a:r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· </a:t>
            </a:r>
            <a:r>
              <a:rPr lang="en-US" sz="1250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</a:t>
            </a:r>
            <a:r>
              <a:rPr lang="en-US" sz="12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50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vsearch</a:t>
            </a:r>
            <a:r>
              <a:rPr lang="en-US" sz="12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QIIME2/DADA2 · SILVA 138.1</a:t>
            </a:r>
            <a:endParaRPr lang="en-US" sz="1250" dirty="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89CFDC62-0DF4-9178-9652-7E75A981C2BE}"/>
              </a:ext>
            </a:extLst>
          </p:cNvPr>
          <p:cNvSpPr/>
          <p:nvPr/>
        </p:nvSpPr>
        <p:spPr>
          <a:xfrm>
            <a:off x="914400" y="4169664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C9852A"/>
          </a:solidFill>
          <a:ln w="12700">
            <a:solidFill>
              <a:srgbClr val="C98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DDF1B619-BAD8-C109-7964-1247F68BED01}"/>
              </a:ext>
            </a:extLst>
          </p:cNvPr>
          <p:cNvSpPr/>
          <p:nvPr/>
        </p:nvSpPr>
        <p:spPr>
          <a:xfrm>
            <a:off x="1143000" y="439826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9A310D74-C689-39B0-2D90-C9097A846C6D}"/>
              </a:ext>
            </a:extLst>
          </p:cNvPr>
          <p:cNvSpPr/>
          <p:nvPr/>
        </p:nvSpPr>
        <p:spPr>
          <a:xfrm>
            <a:off x="11430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0E67A07B-271A-AC1B-B249-2ED8846EFD19}"/>
              </a:ext>
            </a:extLst>
          </p:cNvPr>
          <p:cNvSpPr/>
          <p:nvPr/>
        </p:nvSpPr>
        <p:spPr>
          <a:xfrm>
            <a:off x="1783080" y="416966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do nº de cópias + TSS   </a:t>
            </a:r>
            <a:r>
              <a:rPr lang="en-US" sz="1250" i="1" dirty="0">
                <a:solidFill>
                  <a:srgbClr val="FB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original — detalhe no próximo slide</a:t>
            </a:r>
            <a:endParaRPr lang="en-US" sz="16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71175418-41C5-1EA1-7336-D6FF91B1C481}"/>
              </a:ext>
            </a:extLst>
          </p:cNvPr>
          <p:cNvSpPr/>
          <p:nvPr/>
        </p:nvSpPr>
        <p:spPr>
          <a:xfrm>
            <a:off x="10424160" y="4169664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1F78B1FB-BAB8-3266-7F80-36DCF64D5D9A}"/>
              </a:ext>
            </a:extLst>
          </p:cNvPr>
          <p:cNvSpPr/>
          <p:nvPr/>
        </p:nvSpPr>
        <p:spPr>
          <a:xfrm>
            <a:off x="914400" y="5248656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3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B634E5F4-847D-7DE4-E468-211B754C07AE}"/>
              </a:ext>
            </a:extLst>
          </p:cNvPr>
          <p:cNvSpPr/>
          <p:nvPr/>
        </p:nvSpPr>
        <p:spPr>
          <a:xfrm>
            <a:off x="1143000" y="5477256"/>
            <a:ext cx="457200" cy="457200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BA806128-DE62-FE9F-F4A1-9F9E803CC04A}"/>
              </a:ext>
            </a:extLst>
          </p:cNvPr>
          <p:cNvSpPr/>
          <p:nvPr/>
        </p:nvSpPr>
        <p:spPr>
          <a:xfrm>
            <a:off x="114300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0E96B7D2-BC0D-93C1-7BD0-2EDA3AD4534E}"/>
              </a:ext>
            </a:extLst>
          </p:cNvPr>
          <p:cNvSpPr/>
          <p:nvPr/>
        </p:nvSpPr>
        <p:spPr>
          <a:xfrm>
            <a:off x="1783080" y="524865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MicrobiomeAnalyst   </a:t>
            </a:r>
            <a:r>
              <a:rPr lang="en-US" sz="125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downstream</a:t>
            </a:r>
            <a:endParaRPr lang="en-US" sz="1600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020EC973-D6D7-9CA1-CD5F-A39355F9BF52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5963D-7EDA-AA29-6B03-E90CDDDA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5">
            <a:extLst>
              <a:ext uri="{FF2B5EF4-FFF2-40B4-BE49-F238E27FC236}">
                <a16:creationId xmlns:a16="http://schemas.microsoft.com/office/drawing/2014/main" id="{CB6D69E7-14C7-3BD0-B87C-CE21F3BB95D8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9181F1EE-A8DB-B95C-2E7A-0BD57E25A64E}"/>
              </a:ext>
            </a:extLst>
          </p:cNvPr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D9E50E54-4DAD-043C-8C87-3E496C9F1377}"/>
              </a:ext>
            </a:extLst>
          </p:cNvPr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1" name="Image 0" descr="images/ic_dna.png">
            <a:extLst>
              <a:ext uri="{FF2B5EF4-FFF2-40B4-BE49-F238E27FC236}">
                <a16:creationId xmlns:a16="http://schemas.microsoft.com/office/drawing/2014/main" id="{9B391A63-AEB5-2F2E-7B92-F829DF3CA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32" name="Text 2">
            <a:extLst>
              <a:ext uri="{FF2B5EF4-FFF2-40B4-BE49-F238E27FC236}">
                <a16:creationId xmlns:a16="http://schemas.microsoft.com/office/drawing/2014/main" id="{F8CDA96E-BBA6-8532-64C4-B55722DA2992}"/>
              </a:ext>
            </a:extLst>
          </p:cNvPr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correção e normalização</a:t>
            </a:r>
            <a:endParaRPr lang="en-US" sz="2400" dirty="0"/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2CC09FA8-8D3F-B5B2-1041-F6EDB3EA1B97}"/>
              </a:ext>
            </a:extLst>
          </p:cNvPr>
          <p:cNvSpPr/>
          <p:nvPr/>
        </p:nvSpPr>
        <p:spPr>
          <a:xfrm>
            <a:off x="548640" y="154076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F7FEF235-80B9-E7E8-19B8-2E36C101E63E}"/>
              </a:ext>
            </a:extLst>
          </p:cNvPr>
          <p:cNvSpPr/>
          <p:nvPr/>
        </p:nvSpPr>
        <p:spPr>
          <a:xfrm>
            <a:off x="548640" y="15407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57" name="Shape 5">
            <a:extLst>
              <a:ext uri="{FF2B5EF4-FFF2-40B4-BE49-F238E27FC236}">
                <a16:creationId xmlns:a16="http://schemas.microsoft.com/office/drawing/2014/main" id="{687A555D-77D7-5543-4B6F-486F3B4E361A}"/>
              </a:ext>
            </a:extLst>
          </p:cNvPr>
          <p:cNvSpPr/>
          <p:nvPr/>
        </p:nvSpPr>
        <p:spPr>
          <a:xfrm>
            <a:off x="548640" y="2180844"/>
            <a:ext cx="32918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1805F313-13B2-0460-5391-8C99AC5B68A6}"/>
              </a:ext>
            </a:extLst>
          </p:cNvPr>
          <p:cNvSpPr/>
          <p:nvPr/>
        </p:nvSpPr>
        <p:spPr>
          <a:xfrm>
            <a:off x="685800" y="22905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featureTable.sample.total.absolute.txt</a:t>
            </a:r>
            <a:endParaRPr lang="en-US" sz="110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DB16447-1E04-B52D-1193-F80A881FBC31}"/>
              </a:ext>
            </a:extLst>
          </p:cNvPr>
          <p:cNvSpPr/>
          <p:nvPr/>
        </p:nvSpPr>
        <p:spPr>
          <a:xfrm>
            <a:off x="685800" y="27111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ASVs da Novogene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1398 ASVs × 30 amostras</a:t>
            </a:r>
            <a:endParaRPr lang="en-US" sz="1050" dirty="0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390456FA-6CDB-BB42-EB8B-529500FD4E04}"/>
              </a:ext>
            </a:extLst>
          </p:cNvPr>
          <p:cNvSpPr/>
          <p:nvPr/>
        </p:nvSpPr>
        <p:spPr>
          <a:xfrm>
            <a:off x="548640" y="3159252"/>
            <a:ext cx="32918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E339259E-A01C-F27D-BDAB-E5EE3EB9416D}"/>
              </a:ext>
            </a:extLst>
          </p:cNvPr>
          <p:cNvSpPr/>
          <p:nvPr/>
        </p:nvSpPr>
        <p:spPr>
          <a:xfrm>
            <a:off x="685800" y="32689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16S_copy_numbers.csv</a:t>
            </a:r>
            <a:endParaRPr lang="en-US" sz="110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34862734-5CB8-276A-2A77-F510B2C0D045}"/>
              </a:ext>
            </a:extLst>
          </p:cNvPr>
          <p:cNvSpPr/>
          <p:nvPr/>
        </p:nvSpPr>
        <p:spPr>
          <a:xfrm>
            <a:off x="685800" y="36896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rrnDB</a:t>
            </a:r>
            <a:endParaRPr lang="en-US" sz="1050" dirty="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12F5311F-1992-8AE5-4D5A-2B697BFF721F}"/>
              </a:ext>
            </a:extLst>
          </p:cNvPr>
          <p:cNvSpPr/>
          <p:nvPr/>
        </p:nvSpPr>
        <p:spPr>
          <a:xfrm>
            <a:off x="548640" y="4137660"/>
            <a:ext cx="32918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2106EACB-D572-3A3B-D993-7F9095FF5CBA}"/>
              </a:ext>
            </a:extLst>
          </p:cNvPr>
          <p:cNvSpPr/>
          <p:nvPr/>
        </p:nvSpPr>
        <p:spPr>
          <a:xfrm>
            <a:off x="685800" y="42473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</a:t>
            </a:r>
            <a:endParaRPr lang="en-US" sz="1100" dirty="0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7590BB0A-2AAE-6277-5374-4969453C800F}"/>
              </a:ext>
            </a:extLst>
          </p:cNvPr>
          <p:cNvSpPr/>
          <p:nvPr/>
        </p:nvSpPr>
        <p:spPr>
          <a:xfrm>
            <a:off x="685800" y="46680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amostras · 6 grupos</a:t>
            </a:r>
            <a:endParaRPr lang="en-US" sz="1050" dirty="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D78E4C0C-4026-251F-211B-B10E5A30F637}"/>
              </a:ext>
            </a:extLst>
          </p:cNvPr>
          <p:cNvSpPr/>
          <p:nvPr/>
        </p:nvSpPr>
        <p:spPr>
          <a:xfrm>
            <a:off x="4114800" y="154076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5F5AB56A-960D-C4CC-9677-DEC95412F10F}"/>
              </a:ext>
            </a:extLst>
          </p:cNvPr>
          <p:cNvSpPr/>
          <p:nvPr/>
        </p:nvSpPr>
        <p:spPr>
          <a:xfrm>
            <a:off x="4114800" y="15407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00" dirty="0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6D84374F-814D-AB95-D2B8-C81BD1F2F530}"/>
              </a:ext>
            </a:extLst>
          </p:cNvPr>
          <p:cNvSpPr/>
          <p:nvPr/>
        </p:nvSpPr>
        <p:spPr>
          <a:xfrm>
            <a:off x="4114800" y="218084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02DEB141-6C2E-1D56-346F-1C2684C9E518}"/>
              </a:ext>
            </a:extLst>
          </p:cNvPr>
          <p:cNvSpPr/>
          <p:nvPr/>
        </p:nvSpPr>
        <p:spPr>
          <a:xfrm>
            <a:off x="4279392" y="2473452"/>
            <a:ext cx="384048" cy="384048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36F811D2-C374-B104-DB1E-E9D8720CFE83}"/>
              </a:ext>
            </a:extLst>
          </p:cNvPr>
          <p:cNvSpPr/>
          <p:nvPr/>
        </p:nvSpPr>
        <p:spPr>
          <a:xfrm>
            <a:off x="4279392" y="2473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0E1A1AD2-EB86-B7AE-FCBE-F699214F73C8}"/>
              </a:ext>
            </a:extLst>
          </p:cNvPr>
          <p:cNvSpPr/>
          <p:nvPr/>
        </p:nvSpPr>
        <p:spPr>
          <a:xfrm>
            <a:off x="4800600" y="22997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taxonomia SILVA</a:t>
            </a:r>
            <a:endParaRPr lang="en-US" sz="1200" dirty="0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8360B757-BE25-DDB9-2CB5-0C36C0988B66}"/>
              </a:ext>
            </a:extLst>
          </p:cNvPr>
          <p:cNvSpPr/>
          <p:nvPr/>
        </p:nvSpPr>
        <p:spPr>
          <a:xfrm>
            <a:off x="4800600" y="26563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→ Species em colunas separadas</a:t>
            </a:r>
            <a:endParaRPr lang="en-US" sz="100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D6F28AA4-88C9-2FC7-C949-9F89D66D3F73}"/>
              </a:ext>
            </a:extLst>
          </p:cNvPr>
          <p:cNvSpPr/>
          <p:nvPr/>
        </p:nvSpPr>
        <p:spPr>
          <a:xfrm>
            <a:off x="4114800" y="295808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2CB5A30C-4F90-C260-9FD9-94638A5007DE}"/>
              </a:ext>
            </a:extLst>
          </p:cNvPr>
          <p:cNvSpPr/>
          <p:nvPr/>
        </p:nvSpPr>
        <p:spPr>
          <a:xfrm>
            <a:off x="4279392" y="3250692"/>
            <a:ext cx="384048" cy="384048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954556E3-A51E-7B36-3FE3-9660CDD31D31}"/>
              </a:ext>
            </a:extLst>
          </p:cNvPr>
          <p:cNvSpPr/>
          <p:nvPr/>
        </p:nvSpPr>
        <p:spPr>
          <a:xfrm>
            <a:off x="4279392" y="3250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6E0605F9-C95B-9F5F-CD03-54768876FBDF}"/>
              </a:ext>
            </a:extLst>
          </p:cNvPr>
          <p:cNvSpPr/>
          <p:nvPr/>
        </p:nvSpPr>
        <p:spPr>
          <a:xfrm>
            <a:off x="4800600" y="30769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copy number</a:t>
            </a:r>
            <a:endParaRPr lang="en-US" sz="1200" dirty="0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12116268-CB74-193C-06B5-FDB8612DB247}"/>
              </a:ext>
            </a:extLst>
          </p:cNvPr>
          <p:cNvSpPr/>
          <p:nvPr/>
        </p:nvSpPr>
        <p:spPr>
          <a:xfrm>
            <a:off x="4800600" y="34335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hierárquica: Species → Phylum (rrnDB)</a:t>
            </a:r>
            <a:endParaRPr lang="en-US" sz="1000" dirty="0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580E5545-A2C5-57A9-10E9-2D370D0F44EF}"/>
              </a:ext>
            </a:extLst>
          </p:cNvPr>
          <p:cNvSpPr/>
          <p:nvPr/>
        </p:nvSpPr>
        <p:spPr>
          <a:xfrm>
            <a:off x="4114800" y="373532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9" name="Shape 27">
            <a:extLst>
              <a:ext uri="{FF2B5EF4-FFF2-40B4-BE49-F238E27FC236}">
                <a16:creationId xmlns:a16="http://schemas.microsoft.com/office/drawing/2014/main" id="{68DA89C5-88C3-C994-AAD3-C4543E1D8CC9}"/>
              </a:ext>
            </a:extLst>
          </p:cNvPr>
          <p:cNvSpPr/>
          <p:nvPr/>
        </p:nvSpPr>
        <p:spPr>
          <a:xfrm>
            <a:off x="4279392" y="4027932"/>
            <a:ext cx="384048" cy="384048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4C488D6C-5813-C1CE-448C-AE5763308F9B}"/>
              </a:ext>
            </a:extLst>
          </p:cNvPr>
          <p:cNvSpPr/>
          <p:nvPr/>
        </p:nvSpPr>
        <p:spPr>
          <a:xfrm>
            <a:off x="4279392" y="40279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1" name="Text 29">
            <a:extLst>
              <a:ext uri="{FF2B5EF4-FFF2-40B4-BE49-F238E27FC236}">
                <a16:creationId xmlns:a16="http://schemas.microsoft.com/office/drawing/2014/main" id="{DF8332DC-9B62-68B8-8F1C-5E6B1DA306DF}"/>
              </a:ext>
            </a:extLst>
          </p:cNvPr>
          <p:cNvSpPr/>
          <p:nvPr/>
        </p:nvSpPr>
        <p:spPr>
          <a:xfrm>
            <a:off x="4800600" y="38541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das contagens</a:t>
            </a:r>
            <a:endParaRPr lang="en-US" sz="1200" dirty="0"/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A54CD0A5-F04D-1D9E-323C-FE0CE7160975}"/>
              </a:ext>
            </a:extLst>
          </p:cNvPr>
          <p:cNvSpPr/>
          <p:nvPr/>
        </p:nvSpPr>
        <p:spPr>
          <a:xfrm>
            <a:off x="4800600" y="42108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÷ nº de cópias</a:t>
            </a:r>
            <a:endParaRPr lang="en-US" sz="1000" dirty="0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FDD8ED43-8B9E-7F90-4BF0-C6019C3F685A}"/>
              </a:ext>
            </a:extLst>
          </p:cNvPr>
          <p:cNvSpPr/>
          <p:nvPr/>
        </p:nvSpPr>
        <p:spPr>
          <a:xfrm>
            <a:off x="4114800" y="451256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4" name="Shape 32">
            <a:extLst>
              <a:ext uri="{FF2B5EF4-FFF2-40B4-BE49-F238E27FC236}">
                <a16:creationId xmlns:a16="http://schemas.microsoft.com/office/drawing/2014/main" id="{FDD1490A-B9C1-8A11-A392-CA5EF05976AB}"/>
              </a:ext>
            </a:extLst>
          </p:cNvPr>
          <p:cNvSpPr/>
          <p:nvPr/>
        </p:nvSpPr>
        <p:spPr>
          <a:xfrm>
            <a:off x="4279392" y="4805172"/>
            <a:ext cx="384048" cy="384048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30C84CDF-2E2E-AD9B-6D39-36E037007AEF}"/>
              </a:ext>
            </a:extLst>
          </p:cNvPr>
          <p:cNvSpPr/>
          <p:nvPr/>
        </p:nvSpPr>
        <p:spPr>
          <a:xfrm>
            <a:off x="4279392" y="4805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86" name="Text 34">
            <a:extLst>
              <a:ext uri="{FF2B5EF4-FFF2-40B4-BE49-F238E27FC236}">
                <a16:creationId xmlns:a16="http://schemas.microsoft.com/office/drawing/2014/main" id="{C6C77D60-A9FC-77B0-FFA5-29092B67EE38}"/>
              </a:ext>
            </a:extLst>
          </p:cNvPr>
          <p:cNvSpPr/>
          <p:nvPr/>
        </p:nvSpPr>
        <p:spPr>
          <a:xfrm>
            <a:off x="4800600" y="46314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Sum Scaling</a:t>
            </a:r>
            <a:endParaRPr lang="en-US" sz="1200" dirty="0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B899B2F4-EC2E-7121-D6F7-4979E4EB459B}"/>
              </a:ext>
            </a:extLst>
          </p:cNvPr>
          <p:cNvSpPr/>
          <p:nvPr/>
        </p:nvSpPr>
        <p:spPr>
          <a:xfrm>
            <a:off x="4800600" y="49880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abundância relativa (soma = 1)</a:t>
            </a:r>
            <a:endParaRPr lang="en-US" sz="1000" dirty="0"/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9C07FB57-143B-9F6B-4B91-35CA5201626C}"/>
              </a:ext>
            </a:extLst>
          </p:cNvPr>
          <p:cNvSpPr/>
          <p:nvPr/>
        </p:nvSpPr>
        <p:spPr>
          <a:xfrm>
            <a:off x="8412480" y="1540764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1492C3F2-7665-BF05-9ED8-557A07D44D7A}"/>
              </a:ext>
            </a:extLst>
          </p:cNvPr>
          <p:cNvSpPr/>
          <p:nvPr/>
        </p:nvSpPr>
        <p:spPr>
          <a:xfrm>
            <a:off x="8412480" y="15407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1393F30A-C5A1-DCB6-D0C6-4E1BB87381F8}"/>
              </a:ext>
            </a:extLst>
          </p:cNvPr>
          <p:cNvSpPr/>
          <p:nvPr/>
        </p:nvSpPr>
        <p:spPr>
          <a:xfrm>
            <a:off x="8412480" y="2180844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34939B36-627B-1DE8-3759-7C6CD4620947}"/>
              </a:ext>
            </a:extLst>
          </p:cNvPr>
          <p:cNvSpPr/>
          <p:nvPr/>
        </p:nvSpPr>
        <p:spPr>
          <a:xfrm>
            <a:off x="8549640" y="22905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Normalized_ASV_Table_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MicrobiomeAnalyst.csv</a:t>
            </a:r>
            <a:endParaRPr lang="en-US" sz="1050" dirty="0"/>
          </a:p>
        </p:txBody>
      </p:sp>
      <p:sp>
        <p:nvSpPr>
          <p:cNvPr id="92" name="Text 40">
            <a:extLst>
              <a:ext uri="{FF2B5EF4-FFF2-40B4-BE49-F238E27FC236}">
                <a16:creationId xmlns:a16="http://schemas.microsoft.com/office/drawing/2014/main" id="{EDAC3B6A-F0F6-0D69-8216-32831C3F59C5}"/>
              </a:ext>
            </a:extLst>
          </p:cNvPr>
          <p:cNvSpPr/>
          <p:nvPr/>
        </p:nvSpPr>
        <p:spPr>
          <a:xfrm>
            <a:off x="8549640" y="30495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abundâncias relativas</a:t>
            </a:r>
            <a:endParaRPr lang="en-US" sz="1050" dirty="0"/>
          </a:p>
        </p:txBody>
      </p:sp>
      <p:sp>
        <p:nvSpPr>
          <p:cNvPr id="93" name="Shape 41">
            <a:extLst>
              <a:ext uri="{FF2B5EF4-FFF2-40B4-BE49-F238E27FC236}">
                <a16:creationId xmlns:a16="http://schemas.microsoft.com/office/drawing/2014/main" id="{AC87FA86-3174-FCE6-518A-594EC920FC66}"/>
              </a:ext>
            </a:extLst>
          </p:cNvPr>
          <p:cNvSpPr/>
          <p:nvPr/>
        </p:nvSpPr>
        <p:spPr>
          <a:xfrm>
            <a:off x="8412480" y="3323844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DD0B10EF-3BBB-8CF6-9CFD-49F24372FBB3}"/>
              </a:ext>
            </a:extLst>
          </p:cNvPr>
          <p:cNvSpPr/>
          <p:nvPr/>
        </p:nvSpPr>
        <p:spPr>
          <a:xfrm>
            <a:off x="8549640" y="34335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Taxonomy_Table_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MicrobiomeAnalyst.csv</a:t>
            </a:r>
            <a:endParaRPr lang="en-US" sz="1050" dirty="0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82523ACC-A310-AF04-6477-375E53546FDE}"/>
              </a:ext>
            </a:extLst>
          </p:cNvPr>
          <p:cNvSpPr/>
          <p:nvPr/>
        </p:nvSpPr>
        <p:spPr>
          <a:xfrm>
            <a:off x="8549640" y="41925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taxonomia</a:t>
            </a:r>
            <a:endParaRPr lang="en-US" sz="1050" dirty="0"/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402EC8D1-6BCB-01D8-65E4-2C1BEA742EA7}"/>
              </a:ext>
            </a:extLst>
          </p:cNvPr>
          <p:cNvSpPr/>
          <p:nvPr/>
        </p:nvSpPr>
        <p:spPr>
          <a:xfrm>
            <a:off x="8412480" y="4466844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7" name="Text 45">
            <a:extLst>
              <a:ext uri="{FF2B5EF4-FFF2-40B4-BE49-F238E27FC236}">
                <a16:creationId xmlns:a16="http://schemas.microsoft.com/office/drawing/2014/main" id="{8A9038E8-7509-4E95-D0A2-38861759FDF9}"/>
              </a:ext>
            </a:extLst>
          </p:cNvPr>
          <p:cNvSpPr/>
          <p:nvPr/>
        </p:nvSpPr>
        <p:spPr>
          <a:xfrm>
            <a:off x="8549640" y="45765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Normalized_ASV_Table_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scaled1000.csv</a:t>
            </a:r>
            <a:endParaRPr lang="en-US" sz="1050" dirty="0"/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FEB64396-0B58-39CD-119A-90A9408C3594}"/>
              </a:ext>
            </a:extLst>
          </p:cNvPr>
          <p:cNvSpPr/>
          <p:nvPr/>
        </p:nvSpPr>
        <p:spPr>
          <a:xfrm>
            <a:off x="8549640" y="53355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para LEfSe</a:t>
            </a:r>
            <a:endParaRPr lang="en-US" sz="1050" dirty="0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D1C3F154-281A-E007-5956-7D626EEA1B29}"/>
              </a:ext>
            </a:extLst>
          </p:cNvPr>
          <p:cNvSpPr/>
          <p:nvPr/>
        </p:nvSpPr>
        <p:spPr>
          <a:xfrm>
            <a:off x="3703320" y="3451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3A61C45B-6306-9C2F-EB7A-011685D9F93A}"/>
              </a:ext>
            </a:extLst>
          </p:cNvPr>
          <p:cNvSpPr/>
          <p:nvPr/>
        </p:nvSpPr>
        <p:spPr>
          <a:xfrm>
            <a:off x="7975058" y="3451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655BD54C-3CEC-FC68-F1EF-06658FB45DC0}"/>
              </a:ext>
            </a:extLst>
          </p:cNvPr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1F3D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2" name="Text 50">
            <a:extLst>
              <a:ext uri="{FF2B5EF4-FFF2-40B4-BE49-F238E27FC236}">
                <a16:creationId xmlns:a16="http://schemas.microsoft.com/office/drawing/2014/main" id="{3F61211A-137A-EBBC-6655-30C20DEC05FE}"/>
              </a:ext>
            </a:extLst>
          </p:cNvPr>
          <p:cNvSpPr/>
          <p:nvPr/>
        </p:nvSpPr>
        <p:spPr>
          <a:xfrm>
            <a:off x="777240" y="5669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corrigir?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nº de cópias do gene 16S rRNA varia entre 1 e &gt;15 entre bactérias. Sem correção, taxa com mais cópias surgem artificialmente sobrerrepresentados.  </a:t>
            </a:r>
            <a:r>
              <a:rPr lang="en-US" sz="125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97,9% dos ASVs foram corrigidos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 sem match = 0,06% da abundância).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8158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>
            <a:extLst>
              <a:ext uri="{FF2B5EF4-FFF2-40B4-BE49-F238E27FC236}">
                <a16:creationId xmlns:a16="http://schemas.microsoft.com/office/drawing/2014/main" id="{60C12E87-3A1F-7D65-FAA4-19CA00F6568D}"/>
              </a:ext>
            </a:extLst>
          </p:cNvPr>
          <p:cNvSpPr/>
          <p:nvPr/>
        </p:nvSpPr>
        <p:spPr>
          <a:xfrm>
            <a:off x="701040" y="536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1ABCF22E-34E1-64FB-574C-F3BD4187F79D}"/>
              </a:ext>
            </a:extLst>
          </p:cNvPr>
          <p:cNvSpPr/>
          <p:nvPr/>
        </p:nvSpPr>
        <p:spPr>
          <a:xfrm>
            <a:off x="701040" y="8656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9" name="Image 0" descr="images/ic_chart.png">
            <a:extLst>
              <a:ext uri="{FF2B5EF4-FFF2-40B4-BE49-F238E27FC236}">
                <a16:creationId xmlns:a16="http://schemas.microsoft.com/office/drawing/2014/main" id="{1497D8E9-E0FA-8428-E75A-B0027B57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02792"/>
            <a:ext cx="292608" cy="292608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53D38116-78D6-1A06-F125-839D993AF6E1}"/>
              </a:ext>
            </a:extLst>
          </p:cNvPr>
          <p:cNvSpPr/>
          <p:nvPr/>
        </p:nvSpPr>
        <p:spPr>
          <a:xfrm>
            <a:off x="1432560" y="8290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Análises downstream da microbiota — </a:t>
            </a:r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MicrobiomeAnalyst</a:t>
            </a:r>
            <a:endParaRPr lang="en-US" sz="24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406BD7EE-2338-9CDA-9CF3-1F51F2DEA261}"/>
              </a:ext>
            </a:extLst>
          </p:cNvPr>
          <p:cNvSpPr/>
          <p:nvPr/>
        </p:nvSpPr>
        <p:spPr>
          <a:xfrm>
            <a:off x="701040" y="21640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0439EE68-5E6A-6D1C-F1A0-D2D05CD102DF}"/>
              </a:ext>
            </a:extLst>
          </p:cNvPr>
          <p:cNvSpPr/>
          <p:nvPr/>
        </p:nvSpPr>
        <p:spPr>
          <a:xfrm>
            <a:off x="1021080" y="2667000"/>
            <a:ext cx="731520" cy="731520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3" name="Image 1" descr="images/ic_pie.png">
            <a:extLst>
              <a:ext uri="{FF2B5EF4-FFF2-40B4-BE49-F238E27FC236}">
                <a16:creationId xmlns:a16="http://schemas.microsoft.com/office/drawing/2014/main" id="{2DCA2C15-7EBC-16DD-C778-19866A946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104" y="2859024"/>
            <a:ext cx="347472" cy="347472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15AE79CF-FB90-C04E-F2AF-D390EF182604}"/>
              </a:ext>
            </a:extLst>
          </p:cNvPr>
          <p:cNvSpPr/>
          <p:nvPr/>
        </p:nvSpPr>
        <p:spPr>
          <a:xfrm>
            <a:off x="1981200" y="2548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</a:t>
            </a:r>
            <a:endParaRPr lang="en-US" sz="18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72EC06B7-A13C-14D8-102F-BD376D8D0EB0}"/>
              </a:ext>
            </a:extLst>
          </p:cNvPr>
          <p:cNvSpPr/>
          <p:nvPr/>
        </p:nvSpPr>
        <p:spPr>
          <a:xfrm>
            <a:off x="1981200" y="30327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Abundância relativa por Phylum e por Genus</a:t>
            </a:r>
            <a:endParaRPr lang="en-US" sz="125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0C913EC9-0022-D8F6-36E1-3A69944F6565}"/>
              </a:ext>
            </a:extLst>
          </p:cNvPr>
          <p:cNvSpPr/>
          <p:nvPr/>
        </p:nvSpPr>
        <p:spPr>
          <a:xfrm>
            <a:off x="6425184" y="216408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FD341858-6592-5839-8D4C-91C7166D36B4}"/>
              </a:ext>
            </a:extLst>
          </p:cNvPr>
          <p:cNvSpPr/>
          <p:nvPr/>
        </p:nvSpPr>
        <p:spPr>
          <a:xfrm>
            <a:off x="6745224" y="2667000"/>
            <a:ext cx="731520" cy="731520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8" name="Image 2" descr="images/ic_balance.png">
            <a:extLst>
              <a:ext uri="{FF2B5EF4-FFF2-40B4-BE49-F238E27FC236}">
                <a16:creationId xmlns:a16="http://schemas.microsoft.com/office/drawing/2014/main" id="{762274AA-0C04-069D-9F39-0A0263118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248" y="2859024"/>
            <a:ext cx="347472" cy="347472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26E5386B-7A29-9B8A-B4D7-CC45BB3CCFB5}"/>
              </a:ext>
            </a:extLst>
          </p:cNvPr>
          <p:cNvSpPr/>
          <p:nvPr/>
        </p:nvSpPr>
        <p:spPr>
          <a:xfrm>
            <a:off x="7705344" y="2548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Diversidade alfa</a:t>
            </a:r>
            <a:endParaRPr lang="en-US" sz="18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7FD9497D-D9BD-D0C4-6F3E-9F9221F3DD9F}"/>
              </a:ext>
            </a:extLst>
          </p:cNvPr>
          <p:cNvSpPr/>
          <p:nvPr/>
        </p:nvSpPr>
        <p:spPr>
          <a:xfrm>
            <a:off x="7705344" y="303276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· Kruskal-Wallis</a:t>
            </a:r>
            <a:endParaRPr lang="en-US" sz="125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FE524940-27A1-DBA4-1BCF-64D4D411AFD8}"/>
              </a:ext>
            </a:extLst>
          </p:cNvPr>
          <p:cNvSpPr/>
          <p:nvPr/>
        </p:nvSpPr>
        <p:spPr>
          <a:xfrm>
            <a:off x="701040" y="403860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CB16BB42-8991-9DA7-B814-0C8D0C0D576C}"/>
              </a:ext>
            </a:extLst>
          </p:cNvPr>
          <p:cNvSpPr/>
          <p:nvPr/>
        </p:nvSpPr>
        <p:spPr>
          <a:xfrm>
            <a:off x="1021080" y="4541520"/>
            <a:ext cx="731520" cy="731520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3" name="Image 3" descr="images/ic_dna.png">
            <a:extLst>
              <a:ext uri="{FF2B5EF4-FFF2-40B4-BE49-F238E27FC236}">
                <a16:creationId xmlns:a16="http://schemas.microsoft.com/office/drawing/2014/main" id="{E9E09661-DC72-5CCD-E648-71684FD8B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104" y="4733544"/>
            <a:ext cx="347472" cy="347472"/>
          </a:xfrm>
          <a:prstGeom prst="rect">
            <a:avLst/>
          </a:prstGeom>
        </p:spPr>
      </p:pic>
      <p:sp>
        <p:nvSpPr>
          <p:cNvPr id="44" name="Text 13">
            <a:extLst>
              <a:ext uri="{FF2B5EF4-FFF2-40B4-BE49-F238E27FC236}">
                <a16:creationId xmlns:a16="http://schemas.microsoft.com/office/drawing/2014/main" id="{9CDA22C2-5F3C-6B0C-41FB-937163667553}"/>
              </a:ext>
            </a:extLst>
          </p:cNvPr>
          <p:cNvSpPr/>
          <p:nvPr/>
        </p:nvSpPr>
        <p:spPr>
          <a:xfrm>
            <a:off x="1981200" y="4422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Diversidade beta</a:t>
            </a:r>
            <a:endParaRPr lang="en-US" sz="18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411DF051-A615-2FEE-A43F-EBD7096106B7}"/>
              </a:ext>
            </a:extLst>
          </p:cNvPr>
          <p:cNvSpPr/>
          <p:nvPr/>
        </p:nvSpPr>
        <p:spPr>
          <a:xfrm>
            <a:off x="1981200" y="49072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Bray-Curtis · PERMANOVA</a:t>
            </a:r>
            <a:endParaRPr lang="en-US" sz="1250" dirty="0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4E452732-F1C3-F780-C9EC-2C91CF868C8F}"/>
              </a:ext>
            </a:extLst>
          </p:cNvPr>
          <p:cNvSpPr/>
          <p:nvPr/>
        </p:nvSpPr>
        <p:spPr>
          <a:xfrm>
            <a:off x="6425184" y="403860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654F9990-6789-1A41-D61A-A8DF17C1A33F}"/>
              </a:ext>
            </a:extLst>
          </p:cNvPr>
          <p:cNvSpPr/>
          <p:nvPr/>
        </p:nvSpPr>
        <p:spPr>
          <a:xfrm>
            <a:off x="6745224" y="4541520"/>
            <a:ext cx="731520" cy="731520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8" name="Image 4" descr="images/ic_microbe.png">
            <a:extLst>
              <a:ext uri="{FF2B5EF4-FFF2-40B4-BE49-F238E27FC236}">
                <a16:creationId xmlns:a16="http://schemas.microsoft.com/office/drawing/2014/main" id="{B6F131F6-798C-351A-FB84-30A20C7368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7248" y="4733544"/>
            <a:ext cx="347472" cy="347472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A77E65DA-5122-4C7D-AC1E-8501DE586CE2}"/>
              </a:ext>
            </a:extLst>
          </p:cNvPr>
          <p:cNvSpPr/>
          <p:nvPr/>
        </p:nvSpPr>
        <p:spPr>
          <a:xfrm>
            <a:off x="7705344" y="4422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Biomarcadores</a:t>
            </a:r>
            <a:endParaRPr lang="en-US" sz="18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C164E3F6-992B-85C3-CE10-764CB8BAF063}"/>
              </a:ext>
            </a:extLst>
          </p:cNvPr>
          <p:cNvSpPr/>
          <p:nvPr/>
        </p:nvSpPr>
        <p:spPr>
          <a:xfrm>
            <a:off x="7705344" y="49072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LEfSe (Linear Discriminant Analysis)</a:t>
            </a:r>
            <a:endParaRPr lang="en-US" sz="125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18D10BEB-B8FE-A668-2E0F-541B291762D0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nível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Phylum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5"/>
          <p:cNvSpPr/>
          <p:nvPr/>
        </p:nvSpPr>
        <p:spPr>
          <a:xfrm>
            <a:off x="4210812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1885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832958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40529" y="1740433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1"/>
          <p:cNvSpPr/>
          <p:nvPr/>
        </p:nvSpPr>
        <p:spPr>
          <a:xfrm>
            <a:off x="4254474" y="1741349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Ext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285552" y="1731401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3"/>
          <p:cNvSpPr/>
          <p:nvPr/>
        </p:nvSpPr>
        <p:spPr>
          <a:xfrm>
            <a:off x="5285552" y="1730255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Pulp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300377" y="1737360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B0413E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19" name="Text 15"/>
          <p:cNvSpPr/>
          <p:nvPr/>
        </p:nvSpPr>
        <p:spPr>
          <a:xfrm>
            <a:off x="6300376" y="1733028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589520" y="1737360"/>
            <a:ext cx="4114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7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18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vs. NC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26679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8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8229599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8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Firmicutes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229599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 err="1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Fermentam</a:t>
            </a:r>
            <a:r>
              <a:rPr lang="en-US" sz="1000" dirty="0"/>
              <a:t> </a:t>
            </a:r>
            <a:r>
              <a:rPr lang="en-US" sz="1000" i="1" dirty="0" err="1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fibras</a:t>
            </a:r>
            <a:endParaRPr lang="en-US" sz="1000" i="1" dirty="0">
              <a:solidFill>
                <a:srgbClr val="6E7F7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726679" y="3154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8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28" name="Text 24"/>
          <p:cNvSpPr/>
          <p:nvPr/>
        </p:nvSpPr>
        <p:spPr>
          <a:xfrm>
            <a:off x="8229599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8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Actinobacteriota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229599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Inclui </a:t>
            </a:r>
            <a:r>
              <a:rPr lang="pt-PT" sz="1000" i="1" dirty="0" err="1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Bifidobacterium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 · fermenta fibra</a:t>
            </a:r>
            <a:endParaRPr lang="en-US" sz="1000" i="1" dirty="0">
              <a:solidFill>
                <a:srgbClr val="6E7F7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7863840" y="3815018"/>
            <a:ext cx="3657600" cy="2286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Text 28"/>
          <p:cNvSpPr/>
          <p:nvPr/>
        </p:nvSpPr>
        <p:spPr>
          <a:xfrm rot="10800000">
            <a:off x="7726679" y="4064843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33" name="Text 29"/>
          <p:cNvSpPr/>
          <p:nvPr/>
        </p:nvSpPr>
        <p:spPr>
          <a:xfrm>
            <a:off x="8229599" y="3968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Proteobacteria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8229599" y="42153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Oportunista</a:t>
            </a:r>
            <a:r>
              <a:rPr lang="pt-PT" sz="1000" dirty="0"/>
              <a:t> · 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hidrólise</a:t>
            </a:r>
            <a:r>
              <a:rPr lang="pt-PT" sz="1000" dirty="0"/>
              <a:t> 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de</a:t>
            </a:r>
            <a:r>
              <a:rPr lang="pt-PT" sz="1000" dirty="0"/>
              <a:t> 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proteínas</a:t>
            </a:r>
            <a:endParaRPr lang="en-US" sz="1000" i="1" dirty="0">
              <a:solidFill>
                <a:srgbClr val="6E7F72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3BFF3B20-0ACB-B6B2-D3EF-DF5A6DE73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853" y="2079379"/>
            <a:ext cx="6536133" cy="422416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42232" y="2080295"/>
            <a:ext cx="934517" cy="3559759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8"/>
          <p:cNvSpPr/>
          <p:nvPr/>
        </p:nvSpPr>
        <p:spPr>
          <a:xfrm>
            <a:off x="6179448" y="2075687"/>
            <a:ext cx="979780" cy="3559759"/>
          </a:xfrm>
          <a:prstGeom prst="rect">
            <a:avLst/>
          </a:prstGeom>
          <a:ln w="38100">
            <a:solidFill>
              <a:srgbClr val="B0413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5168189" y="2075687"/>
            <a:ext cx="971550" cy="3559759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F6F19DB4-5E16-96B6-6B98-D4D52B5C9163}"/>
              </a:ext>
            </a:extLst>
          </p:cNvPr>
          <p:cNvSpPr/>
          <p:nvPr/>
        </p:nvSpPr>
        <p:spPr>
          <a:xfrm>
            <a:off x="7772400" y="544068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F3D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84FFF06A-E601-6585-22A1-CA09388994FA}"/>
              </a:ext>
            </a:extLst>
          </p:cNvPr>
          <p:cNvSpPr/>
          <p:nvPr/>
        </p:nvSpPr>
        <p:spPr>
          <a:xfrm>
            <a:off x="7863840" y="5440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F2C8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Substrato fermentável remodela a comunidade microbiana</a:t>
            </a:r>
            <a:endParaRPr lang="en-US" sz="1150" dirty="0"/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DB40195F-2443-6717-D85C-FB6F4D4319DA}"/>
              </a:ext>
            </a:extLst>
          </p:cNvPr>
          <p:cNvSpPr/>
          <p:nvPr/>
        </p:nvSpPr>
        <p:spPr>
          <a:xfrm rot="10800000">
            <a:off x="7726679" y="48048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2EB61D38-15D8-3CDD-A13A-49F748AF976F}"/>
              </a:ext>
            </a:extLst>
          </p:cNvPr>
          <p:cNvSpPr/>
          <p:nvPr/>
        </p:nvSpPr>
        <p:spPr>
          <a:xfrm>
            <a:off x="8229599" y="4708489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Bacteriodota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F1F7E555-FBC4-2DA6-DA5F-DF722BDF16D4}"/>
              </a:ext>
            </a:extLst>
          </p:cNvPr>
          <p:cNvSpPr/>
          <p:nvPr/>
        </p:nvSpPr>
        <p:spPr>
          <a:xfrm>
            <a:off x="8229599" y="4955377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Fermenta</a:t>
            </a:r>
            <a:r>
              <a:rPr lang="pt-PT" sz="1000" dirty="0"/>
              <a:t> 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polissacáridos</a:t>
            </a:r>
            <a:r>
              <a:rPr lang="pt-PT" sz="1000" dirty="0"/>
              <a:t> </a:t>
            </a:r>
            <a:r>
              <a:rPr lang="pt-PT" sz="1000" i="1" dirty="0">
                <a:solidFill>
                  <a:srgbClr val="6E7F72"/>
                </a:solidFill>
                <a:latin typeface="Calibri" pitchFamily="34" charset="0"/>
                <a:cs typeface="Calibri" pitchFamily="34" charset="-120"/>
              </a:rPr>
              <a:t>complexos</a:t>
            </a:r>
            <a:endParaRPr lang="en-US" sz="1000" i="1" dirty="0">
              <a:solidFill>
                <a:srgbClr val="6E7F72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nível</a:t>
            </a: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Phylum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5"/>
          <p:cNvSpPr/>
          <p:nvPr/>
        </p:nvSpPr>
        <p:spPr>
          <a:xfrm>
            <a:off x="1777594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588666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210812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1885" y="2122322"/>
            <a:ext cx="8110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170889" y="1736446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3"/>
          <p:cNvSpPr/>
          <p:nvPr/>
        </p:nvSpPr>
        <p:spPr>
          <a:xfrm>
            <a:off x="1170889" y="1722077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Inulina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19705" y="1732108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5"/>
          <p:cNvSpPr/>
          <p:nvPr/>
        </p:nvSpPr>
        <p:spPr>
          <a:xfrm>
            <a:off x="2219704" y="1722077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Oligofructose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247387" y="1725718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7"/>
          <p:cNvSpPr/>
          <p:nvPr/>
        </p:nvSpPr>
        <p:spPr>
          <a:xfrm>
            <a:off x="4247386" y="1722077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Ext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259627" y="1736671"/>
            <a:ext cx="737921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19"/>
          <p:cNvSpPr/>
          <p:nvPr/>
        </p:nvSpPr>
        <p:spPr>
          <a:xfrm>
            <a:off x="5259627" y="1732108"/>
            <a:ext cx="7379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Pulp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589520" y="1737360"/>
            <a:ext cx="4114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1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2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PREBIÓTICOS vs MANGABA</a:t>
            </a:r>
            <a:endParaRPr lang="en-US" sz="1200" dirty="0"/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74305647-7337-C03F-DF71-46AC86619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853" y="2057251"/>
            <a:ext cx="6536133" cy="422416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052017" y="2060600"/>
            <a:ext cx="978664" cy="3559759"/>
          </a:xfrm>
          <a:prstGeom prst="rect">
            <a:avLst/>
          </a:prstGeom>
          <a:ln w="38100">
            <a:solidFill>
              <a:srgbClr val="3E6B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2067257" y="2060600"/>
            <a:ext cx="978610" cy="3559759"/>
          </a:xfrm>
          <a:prstGeom prst="rect">
            <a:avLst/>
          </a:prstGeom>
          <a:ln w="38100">
            <a:solidFill>
              <a:srgbClr val="3E6B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8"/>
          <p:cNvSpPr/>
          <p:nvPr/>
        </p:nvSpPr>
        <p:spPr>
          <a:xfrm>
            <a:off x="4110228" y="2060600"/>
            <a:ext cx="988466" cy="3559759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5137098" y="2060600"/>
            <a:ext cx="988466" cy="3559759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3A8AB57A-A6D4-DFFA-D848-C645A1ACC43F}"/>
              </a:ext>
            </a:extLst>
          </p:cNvPr>
          <p:cNvSpPr/>
          <p:nvPr/>
        </p:nvSpPr>
        <p:spPr>
          <a:xfrm>
            <a:off x="77724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comparado:</a:t>
            </a:r>
            <a:endParaRPr lang="en-US" sz="105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4D69710E-D030-AA80-D3C6-127A6E4DFC2A}"/>
              </a:ext>
            </a:extLst>
          </p:cNvPr>
          <p:cNvSpPr/>
          <p:nvPr/>
        </p:nvSpPr>
        <p:spPr>
          <a:xfrm>
            <a:off x="772668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C62550BA-F988-06E6-EBCF-04AA1673268A}"/>
              </a:ext>
            </a:extLst>
          </p:cNvPr>
          <p:cNvSpPr/>
          <p:nvPr/>
        </p:nvSpPr>
        <p:spPr>
          <a:xfrm>
            <a:off x="8229600" y="2697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Firmicutes</a:t>
            </a:r>
            <a:endParaRPr lang="en-US" sz="13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065552AD-D7B0-F96A-9B66-953CD9774D34}"/>
              </a:ext>
            </a:extLst>
          </p:cNvPr>
          <p:cNvSpPr/>
          <p:nvPr/>
        </p:nvSpPr>
        <p:spPr>
          <a:xfrm>
            <a:off x="822960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semelhante </a:t>
            </a:r>
            <a:r>
              <a:rPr lang="en-US" sz="1050" i="1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</a:t>
            </a: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prebióticos</a:t>
            </a:r>
            <a:endParaRPr lang="en-US" sz="1050" dirty="0"/>
          </a:p>
        </p:txBody>
      </p:sp>
      <p:sp>
        <p:nvSpPr>
          <p:cNvPr id="44" name="Text 27">
            <a:extLst>
              <a:ext uri="{FF2B5EF4-FFF2-40B4-BE49-F238E27FC236}">
                <a16:creationId xmlns:a16="http://schemas.microsoft.com/office/drawing/2014/main" id="{99E85BDA-ACBC-2D63-2102-024FD7187F7F}"/>
              </a:ext>
            </a:extLst>
          </p:cNvPr>
          <p:cNvSpPr/>
          <p:nvPr/>
        </p:nvSpPr>
        <p:spPr>
          <a:xfrm>
            <a:off x="7726680" y="3429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8E9D1E3C-D9C6-FEC0-E47B-475521BDDC87}"/>
              </a:ext>
            </a:extLst>
          </p:cNvPr>
          <p:cNvSpPr/>
          <p:nvPr/>
        </p:nvSpPr>
        <p:spPr>
          <a:xfrm>
            <a:off x="822960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Actinobacteriota</a:t>
            </a:r>
            <a:endParaRPr lang="en-US" sz="1300" dirty="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A9B4EBDA-33F2-14FA-9547-9A3BA0027C3D}"/>
              </a:ext>
            </a:extLst>
          </p:cNvPr>
          <p:cNvSpPr/>
          <p:nvPr/>
        </p:nvSpPr>
        <p:spPr>
          <a:xfrm>
            <a:off x="822960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Bifidobacterium domina em ambos</a:t>
            </a:r>
            <a:endParaRPr lang="en-US" sz="105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6117B895-34A6-FD07-EF0B-149E36AC9C6A}"/>
              </a:ext>
            </a:extLst>
          </p:cNvPr>
          <p:cNvSpPr/>
          <p:nvPr/>
        </p:nvSpPr>
        <p:spPr>
          <a:xfrm>
            <a:off x="772668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AF87A407-5159-6C7B-855A-27F60F51E3EA}"/>
              </a:ext>
            </a:extLst>
          </p:cNvPr>
          <p:cNvSpPr/>
          <p:nvPr/>
        </p:nvSpPr>
        <p:spPr>
          <a:xfrm>
            <a:off x="8229600" y="4160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Proteobacteria</a:t>
            </a:r>
            <a:endParaRPr lang="en-US" sz="1300" dirty="0"/>
          </a:p>
        </p:txBody>
      </p:sp>
      <p:sp>
        <p:nvSpPr>
          <p:cNvPr id="49" name="Text 32">
            <a:extLst>
              <a:ext uri="{FF2B5EF4-FFF2-40B4-BE49-F238E27FC236}">
                <a16:creationId xmlns:a16="http://schemas.microsoft.com/office/drawing/2014/main" id="{FC2B4AA5-C85E-E44F-494D-DC5EE0C907BA}"/>
              </a:ext>
            </a:extLst>
          </p:cNvPr>
          <p:cNvSpPr/>
          <p:nvPr/>
        </p:nvSpPr>
        <p:spPr>
          <a:xfrm>
            <a:off x="822960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em todos (fermentação ativa)</a:t>
            </a:r>
            <a:endParaRPr lang="en-US" sz="1050" dirty="0"/>
          </a:p>
        </p:txBody>
      </p:sp>
      <p:sp>
        <p:nvSpPr>
          <p:cNvPr id="50" name="Shape 33">
            <a:extLst>
              <a:ext uri="{FF2B5EF4-FFF2-40B4-BE49-F238E27FC236}">
                <a16:creationId xmlns:a16="http://schemas.microsoft.com/office/drawing/2014/main" id="{40021C0C-A8D4-D880-AB1F-C2FB748FF0D8}"/>
              </a:ext>
            </a:extLst>
          </p:cNvPr>
          <p:cNvSpPr/>
          <p:nvPr/>
        </p:nvSpPr>
        <p:spPr>
          <a:xfrm>
            <a:off x="7772400" y="521208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C985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1" name="Text 34">
            <a:extLst>
              <a:ext uri="{FF2B5EF4-FFF2-40B4-BE49-F238E27FC236}">
                <a16:creationId xmlns:a16="http://schemas.microsoft.com/office/drawing/2014/main" id="{9D0DF80D-EEAD-FE6D-3F00-CEAE1E74E114}"/>
              </a:ext>
            </a:extLst>
          </p:cNvPr>
          <p:cNvSpPr/>
          <p:nvPr/>
        </p:nvSpPr>
        <p:spPr>
          <a:xfrm>
            <a:off x="7863840" y="5212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Mangaba reproduz em larga medida o perfil dos </a:t>
            </a:r>
            <a:r>
              <a:rPr lang="en-US" sz="135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prebióticos</a:t>
            </a: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b="1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comerciais</a:t>
            </a:r>
            <a:endParaRPr lang="en-US" sz="1350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DD598298-1A09-346A-45CE-5037D446C674}"/>
              </a:ext>
            </a:extLst>
          </p:cNvPr>
          <p:cNvSpPr/>
          <p:nvPr/>
        </p:nvSpPr>
        <p:spPr>
          <a:xfrm>
            <a:off x="7726680" y="4707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280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68723C07-583C-B27B-30E0-992F338ABA65}"/>
              </a:ext>
            </a:extLst>
          </p:cNvPr>
          <p:cNvSpPr/>
          <p:nvPr/>
        </p:nvSpPr>
        <p:spPr>
          <a:xfrm>
            <a:off x="8229600" y="4815857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Bacteroidota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 ao nível de Genus — visão geral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Abundância relativa por grupo (top 20 géneros)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589520" y="1737360"/>
            <a:ext cx="4114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Géneros-estrela — função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818120" y="2423160"/>
            <a:ext cx="256032" cy="256032"/>
          </a:xfrm>
          <a:prstGeom prst="ellipse">
            <a:avLst/>
          </a:prstGeom>
          <a:solidFill>
            <a:srgbClr val="76C3BE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9"/>
          <p:cNvSpPr/>
          <p:nvPr/>
        </p:nvSpPr>
        <p:spPr>
          <a:xfrm>
            <a:off x="8183880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Bifidobacterium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183880" y="26243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probiótico clássico · produtor de acetato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515600" y="2359152"/>
            <a:ext cx="1005840" cy="256032"/>
          </a:xfrm>
          <a:prstGeom prst="rect">
            <a:avLst/>
          </a:prstGeom>
          <a:solidFill>
            <a:srgbClr val="4A825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benéfico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818120" y="3200400"/>
            <a:ext cx="256032" cy="256032"/>
          </a:xfrm>
          <a:prstGeom prst="ellipse">
            <a:avLst/>
          </a:prstGeom>
          <a:solidFill>
            <a:srgbClr val="D5D2CD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3"/>
          <p:cNvSpPr/>
          <p:nvPr/>
        </p:nvSpPr>
        <p:spPr>
          <a:xfrm>
            <a:off x="8183880" y="3108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Ligilactobacillus / Lactobacillus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183880" y="34015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bactérias lácticas · fermentadoras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0515600" y="3136392"/>
            <a:ext cx="1005840" cy="256032"/>
          </a:xfrm>
          <a:prstGeom prst="rect">
            <a:avLst/>
          </a:prstGeom>
          <a:solidFill>
            <a:srgbClr val="4A825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benéfico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818120" y="4023360"/>
            <a:ext cx="256032" cy="256032"/>
          </a:xfrm>
          <a:prstGeom prst="ellipse">
            <a:avLst/>
          </a:prstGeom>
          <a:solidFill>
            <a:srgbClr val="B19BC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7"/>
          <p:cNvSpPr/>
          <p:nvPr/>
        </p:nvSpPr>
        <p:spPr>
          <a:xfrm>
            <a:off x="8183880" y="3931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Bacteroides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183880" y="42245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</a:t>
            </a: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cs typeface="Calibri" pitchFamily="34" charset="-120"/>
              </a:rPr>
              <a:t>polissacarídeos</a:t>
            </a: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complexos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818120" y="4800600"/>
            <a:ext cx="256032" cy="256032"/>
          </a:xfrm>
          <a:prstGeom prst="ellipse">
            <a:avLst/>
          </a:prstGeom>
          <a:solidFill>
            <a:srgbClr val="F8F8B6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0"/>
          <p:cNvSpPr/>
          <p:nvPr/>
        </p:nvSpPr>
        <p:spPr>
          <a:xfrm>
            <a:off x="8183880" y="4709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Escherichia/Shigella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8183880" y="500176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oportunista · associada à hidrólise de proteínas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515600" y="4736592"/>
            <a:ext cx="1005840" cy="256032"/>
          </a:xfrm>
          <a:prstGeom prst="rect">
            <a:avLst/>
          </a:prstGeom>
          <a:solidFill>
            <a:srgbClr val="B041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oportunista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818120" y="5577840"/>
            <a:ext cx="256032" cy="256032"/>
          </a:xfrm>
          <a:prstGeom prst="ellipse">
            <a:avLst/>
          </a:prstGeom>
          <a:solidFill>
            <a:srgbClr val="92A9C4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4"/>
          <p:cNvSpPr/>
          <p:nvPr/>
        </p:nvSpPr>
        <p:spPr>
          <a:xfrm>
            <a:off x="8183880" y="5486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 err="1">
                <a:solidFill>
                  <a:srgbClr val="3E6B4F"/>
                </a:solidFill>
                <a:latin typeface="Calibri" pitchFamily="34" charset="0"/>
                <a:cs typeface="Calibri" pitchFamily="34" charset="-120"/>
              </a:rPr>
              <a:t>Collinsella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183880" y="57790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pt-PT" sz="1000" i="1" dirty="0">
                <a:latin typeface="Calibri" panose="020F0502020204030204" pitchFamily="34" charset="0"/>
                <a:cs typeface="Calibri" panose="020F0502020204030204" pitchFamily="34" charset="0"/>
              </a:rPr>
              <a:t>comensal abundante · produtor de </a:t>
            </a:r>
            <a:r>
              <a:rPr lang="en-US" sz="10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SCFAs</a:t>
            </a:r>
            <a:r>
              <a:rPr lang="pt-PT" sz="1000" i="1" dirty="0">
                <a:latin typeface="Calibri" panose="020F0502020204030204" pitchFamily="34" charset="0"/>
                <a:cs typeface="Calibri" panose="020F0502020204030204" pitchFamily="34" charset="0"/>
              </a:rPr>
              <a:t> · associada a </a:t>
            </a:r>
            <a:r>
              <a:rPr lang="pt-PT" sz="1000" i="1" dirty="0">
                <a:solidFill>
                  <a:srgbClr val="24302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inflamação</a:t>
            </a:r>
            <a:endParaRPr lang="en-US" sz="1000" i="1" dirty="0">
              <a:solidFill>
                <a:srgbClr val="24302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DCE32266-990B-FA43-E0FE-586408CE2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176" y="2110232"/>
            <a:ext cx="6429487" cy="4146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Prebióticos vs Mangaba — perfil de géneros equivalente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37" name="Gráfico 36">
            <a:extLst>
              <a:ext uri="{FF2B5EF4-FFF2-40B4-BE49-F238E27FC236}">
                <a16:creationId xmlns:a16="http://schemas.microsoft.com/office/drawing/2014/main" id="{30CEE48D-0773-C597-82F9-0B4ED232F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840" y="2129627"/>
            <a:ext cx="6567070" cy="412026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8116" y="2129627"/>
            <a:ext cx="1014984" cy="3322015"/>
          </a:xfrm>
          <a:prstGeom prst="rect">
            <a:avLst/>
          </a:prstGeom>
          <a:ln w="38100">
            <a:solidFill>
              <a:srgbClr val="3E6B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5"/>
          <p:cNvSpPr/>
          <p:nvPr/>
        </p:nvSpPr>
        <p:spPr>
          <a:xfrm>
            <a:off x="1986076" y="2129627"/>
            <a:ext cx="979546" cy="3322015"/>
          </a:xfrm>
          <a:prstGeom prst="rect">
            <a:avLst/>
          </a:prstGeom>
          <a:ln w="38100">
            <a:solidFill>
              <a:srgbClr val="3E6B4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4046219" y="2128691"/>
            <a:ext cx="1022300" cy="3322015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7"/>
          <p:cNvSpPr/>
          <p:nvPr/>
        </p:nvSpPr>
        <p:spPr>
          <a:xfrm>
            <a:off x="5114239" y="2128690"/>
            <a:ext cx="979546" cy="3322015"/>
          </a:xfrm>
          <a:prstGeom prst="rect">
            <a:avLst/>
          </a:prstGeom>
          <a:ln w="38100">
            <a:solidFill>
              <a:srgbClr val="C985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8"/>
          <p:cNvSpPr/>
          <p:nvPr/>
        </p:nvSpPr>
        <p:spPr>
          <a:xfrm>
            <a:off x="1078077" y="1778695"/>
            <a:ext cx="715061" cy="292608"/>
          </a:xfrm>
          <a:prstGeom prst="roundRect">
            <a:avLst>
              <a:gd name="adj" fmla="val 12500"/>
            </a:avLst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9"/>
          <p:cNvSpPr/>
          <p:nvPr/>
        </p:nvSpPr>
        <p:spPr>
          <a:xfrm>
            <a:off x="1078076" y="1769862"/>
            <a:ext cx="7150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Inulina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118318" y="1778695"/>
            <a:ext cx="715061" cy="292608"/>
          </a:xfrm>
          <a:prstGeom prst="roundRect">
            <a:avLst>
              <a:gd name="adj" fmla="val 12500"/>
            </a:avLst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1"/>
          <p:cNvSpPr/>
          <p:nvPr/>
        </p:nvSpPr>
        <p:spPr>
          <a:xfrm>
            <a:off x="2118318" y="1777555"/>
            <a:ext cx="7150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Oligofructose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248871" y="1786253"/>
            <a:ext cx="720547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3"/>
          <p:cNvSpPr/>
          <p:nvPr/>
        </p:nvSpPr>
        <p:spPr>
          <a:xfrm>
            <a:off x="4248870" y="1788647"/>
            <a:ext cx="720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MangabaExt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243738" y="1786253"/>
            <a:ext cx="720547" cy="292608"/>
          </a:xfrm>
          <a:prstGeom prst="roundRect">
            <a:avLst>
              <a:gd name="adj" fmla="val 12500"/>
            </a:avLst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5"/>
          <p:cNvSpPr/>
          <p:nvPr/>
        </p:nvSpPr>
        <p:spPr>
          <a:xfrm>
            <a:off x="5243738" y="1783080"/>
            <a:ext cx="7205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MangabaPulp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589520" y="1737360"/>
            <a:ext cx="4114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7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18"/>
          <p:cNvSpPr/>
          <p:nvPr/>
        </p:nvSpPr>
        <p:spPr>
          <a:xfrm>
            <a:off x="758952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PREBIÓTICOS vs MANGABA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6423B8FF-4209-B6FB-6E8C-4B7A74F2FEB9}"/>
              </a:ext>
            </a:extLst>
          </p:cNvPr>
          <p:cNvSpPr/>
          <p:nvPr/>
        </p:nvSpPr>
        <p:spPr>
          <a:xfrm>
            <a:off x="77724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Géneros dominantes em ambos:</a:t>
            </a:r>
            <a:endParaRPr lang="en-US" sz="10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BA51CBA6-8099-690B-2492-2CBDD59BECFB}"/>
              </a:ext>
            </a:extLst>
          </p:cNvPr>
          <p:cNvSpPr/>
          <p:nvPr/>
        </p:nvSpPr>
        <p:spPr>
          <a:xfrm>
            <a:off x="7726680" y="2697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C4925B60-6707-995E-DE3C-55E1B88D1643}"/>
              </a:ext>
            </a:extLst>
          </p:cNvPr>
          <p:cNvSpPr/>
          <p:nvPr/>
        </p:nvSpPr>
        <p:spPr>
          <a:xfrm>
            <a:off x="8229600" y="2697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Bifidobacterium</a:t>
            </a:r>
            <a:endParaRPr lang="en-US" sz="125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277D1615-5011-B166-A7A8-761A1E2CCD30}"/>
              </a:ext>
            </a:extLst>
          </p:cNvPr>
          <p:cNvSpPr/>
          <p:nvPr/>
        </p:nvSpPr>
        <p:spPr>
          <a:xfrm>
            <a:off x="822960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ambos os perfis</a:t>
            </a:r>
            <a:endParaRPr lang="en-US" sz="105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09E602CF-399B-22AD-C616-FCD5615A1312}"/>
              </a:ext>
            </a:extLst>
          </p:cNvPr>
          <p:cNvSpPr/>
          <p:nvPr/>
        </p:nvSpPr>
        <p:spPr>
          <a:xfrm>
            <a:off x="7726680" y="3429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28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DAA3698A-519F-7D1A-DDBB-3803A144C4F9}"/>
              </a:ext>
            </a:extLst>
          </p:cNvPr>
          <p:cNvSpPr/>
          <p:nvPr/>
        </p:nvSpPr>
        <p:spPr>
          <a:xfrm>
            <a:off x="8229600" y="3429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Ligilactobacillus</a:t>
            </a:r>
            <a:endParaRPr lang="en-US" sz="125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5F0557B4-7BBD-7378-6681-CBEC60D5E097}"/>
              </a:ext>
            </a:extLst>
          </p:cNvPr>
          <p:cNvSpPr/>
          <p:nvPr/>
        </p:nvSpPr>
        <p:spPr>
          <a:xfrm>
            <a:off x="822960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todos; maior na Mangaba</a:t>
            </a:r>
            <a:endParaRPr lang="en-US" sz="10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37E9A340-304B-4B3B-7C6F-F4AFE78E97AA}"/>
              </a:ext>
            </a:extLst>
          </p:cNvPr>
          <p:cNvSpPr/>
          <p:nvPr/>
        </p:nvSpPr>
        <p:spPr>
          <a:xfrm>
            <a:off x="7726680" y="4160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37BC4DD-705E-D243-255C-3CB5EE8E322C}"/>
              </a:ext>
            </a:extLst>
          </p:cNvPr>
          <p:cNvSpPr/>
          <p:nvPr/>
        </p:nvSpPr>
        <p:spPr>
          <a:xfrm>
            <a:off x="8229600" y="4160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Lactobacillus</a:t>
            </a:r>
            <a:endParaRPr lang="en-US" sz="1250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A95CEBAF-F47A-AEC0-4AE4-A3FEAC9D25F9}"/>
              </a:ext>
            </a:extLst>
          </p:cNvPr>
          <p:cNvSpPr/>
          <p:nvPr/>
        </p:nvSpPr>
        <p:spPr>
          <a:xfrm>
            <a:off x="8229600" y="44805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da </a:t>
            </a:r>
            <a:r>
              <a:rPr lang="en-US" sz="1050" i="1" dirty="0" err="1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</a:t>
            </a:r>
            <a:endParaRPr lang="en-US" sz="1050" dirty="0"/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0FEF2253-9104-8140-E0A0-7A7BD08D7FFB}"/>
              </a:ext>
            </a:extLst>
          </p:cNvPr>
          <p:cNvSpPr/>
          <p:nvPr/>
        </p:nvSpPr>
        <p:spPr>
          <a:xfrm>
            <a:off x="7772400" y="521208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C985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9992B78A-1F78-2D88-D941-F21435F07E86}"/>
              </a:ext>
            </a:extLst>
          </p:cNvPr>
          <p:cNvSpPr/>
          <p:nvPr/>
        </p:nvSpPr>
        <p:spPr>
          <a:xfrm>
            <a:off x="7863840" y="5212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Mangaba reproduz o núcleo benéfico dos prebióticos e acrescenta Lactobacillus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08CE3DE5-41D7-A1C1-D884-5D6FAE57B6DC}"/>
              </a:ext>
            </a:extLst>
          </p:cNvPr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7255F012-7486-C737-FB90-8B6556749A4F}"/>
              </a:ext>
            </a:extLst>
          </p:cNvPr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5" name="Image 0" descr="images/ic_balance.png">
            <a:extLst>
              <a:ext uri="{FF2B5EF4-FFF2-40B4-BE49-F238E27FC236}">
                <a16:creationId xmlns:a16="http://schemas.microsoft.com/office/drawing/2014/main" id="{9D02FDF1-8F52-75F9-FDBC-9F451C6E3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5B26EDEC-A613-2536-7A98-1237747CD421}"/>
              </a:ext>
            </a:extLst>
          </p:cNvPr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Mangaba reduz a diversidade alfa como um prebiótico</a:t>
            </a:r>
            <a:endParaRPr lang="en-US" sz="26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138EC547-46B1-C76C-E5D3-3E63F75D04BE}"/>
              </a:ext>
            </a:extLst>
          </p:cNvPr>
          <p:cNvSpPr/>
          <p:nvPr/>
        </p:nvSpPr>
        <p:spPr>
          <a:xfrm>
            <a:off x="548640" y="1691640"/>
            <a:ext cx="58521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1F8BA6A-B480-FD95-32BF-C9130BB13976}"/>
              </a:ext>
            </a:extLst>
          </p:cNvPr>
          <p:cNvSpPr/>
          <p:nvPr/>
        </p:nvSpPr>
        <p:spPr>
          <a:xfrm>
            <a:off x="54864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Shannon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ECAE6D47-1238-1FC8-947F-C87806769EB4}"/>
              </a:ext>
            </a:extLst>
          </p:cNvPr>
          <p:cNvSpPr/>
          <p:nvPr/>
        </p:nvSpPr>
        <p:spPr>
          <a:xfrm>
            <a:off x="548640" y="20299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p = 0,001</a:t>
            </a:r>
            <a:endParaRPr lang="en-US" sz="1100" dirty="0"/>
          </a:p>
        </p:txBody>
      </p:sp>
      <p:pic>
        <p:nvPicPr>
          <p:cNvPr id="20" name="Image 1" descr="images/shannon_box_kw-1.png">
            <a:extLst>
              <a:ext uri="{FF2B5EF4-FFF2-40B4-BE49-F238E27FC236}">
                <a16:creationId xmlns:a16="http://schemas.microsoft.com/office/drawing/2014/main" id="{04DBD7F4-F7CF-6FC0-9741-8D05A696CE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520" y="2331720"/>
            <a:ext cx="5486400" cy="3383280"/>
          </a:xfrm>
          <a:prstGeom prst="rect">
            <a:avLst/>
          </a:prstGeom>
        </p:spPr>
      </p:pic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9971FB04-F9EA-B3F8-ABC4-39046F690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173426"/>
              </p:ext>
            </p:extLst>
          </p:nvPr>
        </p:nvGraphicFramePr>
        <p:xfrm>
          <a:off x="6583680" y="1783080"/>
          <a:ext cx="5074920" cy="2304288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 pairwise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Inoculum vs todas 24h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98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98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MangabaExt vs 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98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MangabaExt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FrutaloseOFP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6">
            <a:extLst>
              <a:ext uri="{FF2B5EF4-FFF2-40B4-BE49-F238E27FC236}">
                <a16:creationId xmlns:a16="http://schemas.microsoft.com/office/drawing/2014/main" id="{53C38616-07C7-EDD2-8EFF-D2AE28C4CD23}"/>
              </a:ext>
            </a:extLst>
          </p:cNvPr>
          <p:cNvSpPr/>
          <p:nvPr/>
        </p:nvSpPr>
        <p:spPr>
          <a:xfrm>
            <a:off x="6583680" y="429768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reduz significativamente a diversidade vs NC (FDR = 0,017)</a:t>
            </a:r>
            <a:endParaRPr lang="en-US" sz="115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Polpa e </a:t>
            </a:r>
            <a:r>
              <a:rPr lang="en-US" sz="11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</a:t>
            </a:r>
            <a:r>
              <a:rPr lang="en-US" sz="11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1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distinguem</a:t>
            </a:r>
            <a:r>
              <a:rPr lang="en-US" sz="11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15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pt-PT" sz="1150" dirty="0">
                <a:solidFill>
                  <a:srgbClr val="243027"/>
                </a:solidFill>
                <a:latin typeface="Calibri" pitchFamily="34" charset="0"/>
                <a:cs typeface="Calibri" pitchFamily="34" charset="-120"/>
              </a:rPr>
              <a:t>Mangaba não se distingue dos </a:t>
            </a:r>
            <a:r>
              <a:rPr lang="pt-PT" sz="1150" dirty="0" err="1">
                <a:solidFill>
                  <a:srgbClr val="243027"/>
                </a:solidFill>
                <a:latin typeface="Calibri" pitchFamily="34" charset="0"/>
                <a:cs typeface="Calibri" pitchFamily="34" charset="-120"/>
              </a:rPr>
              <a:t>prebióticos</a:t>
            </a:r>
            <a:r>
              <a:rPr lang="pt-PT" sz="1150" dirty="0">
                <a:solidFill>
                  <a:srgbClr val="243027"/>
                </a:solidFill>
                <a:latin typeface="Calibri" pitchFamily="34" charset="0"/>
                <a:cs typeface="Calibri" pitchFamily="34" charset="-120"/>
              </a:rPr>
              <a:t> comerciais</a:t>
            </a:r>
            <a:endParaRPr lang="en-US" sz="1150" dirty="0">
              <a:solidFill>
                <a:srgbClr val="243027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0E357D04-6191-C6F9-65E7-6959D053219B}"/>
              </a:ext>
            </a:extLst>
          </p:cNvPr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Mangaba difere do </a:t>
            </a:r>
            <a:r>
              <a:rPr lang="en-US" sz="2600" b="1" dirty="0" err="1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8521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PCoA — Bray-Curtis</a:t>
            </a:r>
            <a:endParaRPr lang="en-US" sz="1200" dirty="0"/>
          </a:p>
        </p:txBody>
      </p:sp>
      <p:pic>
        <p:nvPicPr>
          <p:cNvPr id="8" name="Image 1" descr="images/pcoa_bc-1.png"/>
          <p:cNvPicPr>
            <a:picLocks noChangeAspect="1"/>
          </p:cNvPicPr>
          <p:nvPr/>
        </p:nvPicPr>
        <p:blipFill>
          <a:blip r:embed="rId4"/>
          <a:srcRect l="-2743" r="-2743"/>
          <a:stretch/>
        </p:blipFill>
        <p:spPr>
          <a:xfrm>
            <a:off x="731520" y="2103120"/>
            <a:ext cx="5486400" cy="36118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507492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MangabaExt vs NC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MangabaExt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MangabaPulp vs FrutaloseOFP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MangabaExt vs FrutafitIQ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4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583680" y="493776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difere significativamente do NC (R² &gt; 0,32; FDR &lt; 0,05)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distingue dos prebióticos OFP / IQ (FDR &gt; 0,9)</a:t>
            </a:r>
            <a:endParaRPr lang="en-US" sz="12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25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Polpa e extrato comportam-se de forma semelhante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mic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LEfSe: mangaba enriquece bactérias lácticas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52400" y="1417320"/>
            <a:ext cx="5288280" cy="4764024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4"/>
          <p:cNvSpPr/>
          <p:nvPr/>
        </p:nvSpPr>
        <p:spPr>
          <a:xfrm>
            <a:off x="419100" y="144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LEfSe — MangabaPulp vs NC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577840" y="1783080"/>
            <a:ext cx="2971800" cy="402336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6"/>
          <p:cNvSpPr/>
          <p:nvPr/>
        </p:nvSpPr>
        <p:spPr>
          <a:xfrm>
            <a:off x="5577840" y="1783080"/>
            <a:ext cx="2971800" cy="548640"/>
          </a:xfrm>
          <a:prstGeom prst="rect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5577840" y="1783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Enriquecidos pela polpa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806440" y="24688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Ligilactobacillus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+1,96 · p 0,009 · FDR 0,15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Lactobacillus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+1,29 · p 0,045 · FDR 0,29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Bifidobacterium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+2,29 · 25× ↑ vs NC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PT" sz="9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tendência: p 0,076 (não sig.)</a:t>
            </a:r>
          </a:p>
        </p:txBody>
      </p:sp>
      <p:sp>
        <p:nvSpPr>
          <p:cNvPr id="13" name="Shape 9"/>
          <p:cNvSpPr/>
          <p:nvPr/>
        </p:nvSpPr>
        <p:spPr>
          <a:xfrm>
            <a:off x="8686800" y="1783080"/>
            <a:ext cx="2953512" cy="402336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8686800" y="1783080"/>
            <a:ext cx="2953512" cy="548640"/>
          </a:xfrm>
          <a:prstGeom prst="rect">
            <a:avLst/>
          </a:prstGeom>
          <a:solidFill>
            <a:srgbClr val="3E6B4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1"/>
          <p:cNvSpPr/>
          <p:nvPr/>
        </p:nvSpPr>
        <p:spPr>
          <a:xfrm>
            <a:off x="8686800" y="1783080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Enriquecidos no NC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915400" y="2468880"/>
            <a:ext cx="254203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Collinsella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−1,84 · p 0,009 · FDR 0,15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Bacteroides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−1,74 · p 0,028 · FDR 0,22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Dorea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−1,48 · p 0,009 · FDR 0,15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−1,33 · p 0,047 · FDR 0,29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UCG_002</a:t>
            </a: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−1,26 · p 0,009 · FDR 0,15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PT" sz="1300" b="1" i="1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Faecalibacterium</a:t>
            </a:r>
            <a:endParaRPr lang="pt-PT" sz="1300" b="1" i="1" dirty="0">
              <a:solidFill>
                <a:srgbClr val="2430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pt-PT" sz="9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−1,08 · p 0,028 · FDR 0,22</a:t>
            </a:r>
          </a:p>
        </p:txBody>
      </p:sp>
      <p:sp>
        <p:nvSpPr>
          <p:cNvPr id="17" name="Text 13"/>
          <p:cNvSpPr/>
          <p:nvPr/>
        </p:nvSpPr>
        <p:spPr>
          <a:xfrm>
            <a:off x="550164" y="6350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ordenado por |LDA score|. 9 géneros com p &lt; 0,05 (Kruskal-Wallis, não corrigido) e |LDA| ≥ 1 — nenhum sobrevive a FDR &lt; 0,05 (mín. 0,15); interpretados como tendências. Confirmação global: PERMANOVA. n = 5/grupo.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1AB13D97-6974-62FE-0C8D-987026814A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130" y="1723136"/>
            <a:ext cx="4528820" cy="44561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16S rRNA </a:t>
            </a:r>
            <a:r>
              <a:rPr lang="en-US" sz="1500" b="1" dirty="0" err="1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</a:t>
            </a: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400" dirty="0">
                <a:solidFill>
                  <a:srgbClr val="E8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do nº de cópias do gene 16S em &gt;97% dos ASVs — abundâncias mais fiáveis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58775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Mangaba modula a microbiota  —  </a:t>
            </a:r>
            <a:r>
              <a:rPr lang="en-US" sz="1400" dirty="0">
                <a:solidFill>
                  <a:srgbClr val="E8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Polpa e extrato diferenciam-se do controlo negativo (PERMANOVA, FDR &lt; 0,05)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457200" cy="45720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30098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prebiótico  —  </a:t>
            </a:r>
            <a:r>
              <a:rPr lang="en-US" sz="1400" dirty="0">
                <a:solidFill>
                  <a:srgbClr val="E8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comparável ao de oligofructose e </a:t>
            </a:r>
            <a:r>
              <a:rPr lang="en-US" sz="1400" dirty="0" err="1">
                <a:solidFill>
                  <a:srgbClr val="E8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inulina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105656"/>
            <a:ext cx="457200" cy="457200"/>
          </a:xfrm>
          <a:prstGeom prst="ellipse">
            <a:avLst/>
          </a:prstGeom>
          <a:solidFill>
            <a:srgbClr val="C985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82296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1421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2C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Bactérias benéficas  —  </a:t>
            </a:r>
            <a:r>
              <a:rPr lang="en-US" sz="1400" dirty="0">
                <a:solidFill>
                  <a:srgbClr val="E8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de Ligilactobacillus, Lactobacillus e Bifidobacterium (produtores de SCFAs)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C985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17" name="Image 0" descr="images/ic_frui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194560"/>
            <a:ext cx="685800" cy="685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281160" y="3017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Hancornia speciosa </a:t>
            </a: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um potencial modulador prebiótico-like da microbiota intestinal humana.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images/ic_seed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03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 em curso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4"/>
          <p:cNvSpPr/>
          <p:nvPr/>
        </p:nvSpPr>
        <p:spPr>
          <a:xfrm>
            <a:off x="777240" y="2029968"/>
            <a:ext cx="512064" cy="512064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8" name="Image 1" descr="images/ic_micr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476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LEfSe complementar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846320" y="194767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adicionais (Ext vs NC; mangaba vs prebióticos) para consolidar biomarcadores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8"/>
          <p:cNvSpPr/>
          <p:nvPr/>
        </p:nvSpPr>
        <p:spPr>
          <a:xfrm>
            <a:off x="777240" y="3035808"/>
            <a:ext cx="512064" cy="512064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3" name="Image 2" descr="images/ic_v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1638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95351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SCFAs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46320" y="295351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</a:t>
            </a:r>
            <a:r>
              <a:rPr lang="en-US" sz="130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medições</a:t>
            </a: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ácidos</a:t>
            </a: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</a:t>
            </a: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5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Shape 16"/>
          <p:cNvSpPr/>
          <p:nvPr/>
        </p:nvSpPr>
        <p:spPr>
          <a:xfrm>
            <a:off x="777240" y="5047488"/>
            <a:ext cx="512064" cy="512064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3" name="Image 4" descr="images/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17550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49651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Artigo final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846320" y="496519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dos </a:t>
            </a:r>
            <a:r>
              <a:rPr lang="en-US" sz="1300" dirty="0" err="1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98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pela atenção!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16128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7418FEDA-404D-80B1-B69A-3656A416D0B3}"/>
              </a:ext>
            </a:extLst>
          </p:cNvPr>
          <p:cNvSpPr/>
          <p:nvPr/>
        </p:nvSpPr>
        <p:spPr>
          <a:xfrm>
            <a:off x="777240" y="4041648"/>
            <a:ext cx="512064" cy="512064"/>
          </a:xfrm>
          <a:prstGeom prst="ellipse">
            <a:avLst/>
          </a:prstGeom>
          <a:solidFill>
            <a:srgbClr val="EEF2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29" name="Image 3" descr="images/ic_dna.png">
            <a:extLst>
              <a:ext uri="{FF2B5EF4-FFF2-40B4-BE49-F238E27FC236}">
                <a16:creationId xmlns:a16="http://schemas.microsoft.com/office/drawing/2014/main" id="{486177CA-9EFC-3628-95A4-2AC3C8033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4169664"/>
            <a:ext cx="256032" cy="256032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77F74572-CD73-5973-5529-826C96D04A57}"/>
              </a:ext>
            </a:extLst>
          </p:cNvPr>
          <p:cNvSpPr/>
          <p:nvPr/>
        </p:nvSpPr>
        <p:spPr>
          <a:xfrm>
            <a:off x="1508760" y="395935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funcional preditiva</a:t>
            </a:r>
            <a:endParaRPr lang="en-US" sz="16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545988F-57AA-3786-2319-744E16E3BF42}"/>
              </a:ext>
            </a:extLst>
          </p:cNvPr>
          <p:cNvSpPr/>
          <p:nvPr/>
        </p:nvSpPr>
        <p:spPr>
          <a:xfrm>
            <a:off x="4846320" y="395935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4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Tax4Fun + cruzamento com vias KEGG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02608-020C-6048-E089-A43A0FCC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1A65157-E57A-895E-346E-1132B1645069}"/>
              </a:ext>
            </a:extLst>
          </p:cNvPr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F3D2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819D873-A4A2-7A74-AA96-592D1E06546F}"/>
              </a:ext>
            </a:extLst>
          </p:cNvPr>
          <p:cNvSpPr/>
          <p:nvPr/>
        </p:nvSpPr>
        <p:spPr>
          <a:xfrm>
            <a:off x="1280160" y="6766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300" dirty="0" err="1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Utilização</a:t>
            </a:r>
            <a:r>
              <a:rPr lang="en-US" sz="2800" b="1" kern="0" spc="300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ferramentas de IA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9707F95-4AA4-FE63-B246-446CEC700754}"/>
              </a:ext>
            </a:extLst>
          </p:cNvPr>
          <p:cNvSpPr/>
          <p:nvPr/>
        </p:nvSpPr>
        <p:spPr>
          <a:xfrm>
            <a:off x="548639" y="1691640"/>
            <a:ext cx="11233457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 err="1"/>
              <a:t>Elaboração</a:t>
            </a:r>
            <a:r>
              <a:rPr lang="en-US" sz="1600" dirty="0"/>
              <a:t> do template/</a:t>
            </a:r>
            <a:r>
              <a:rPr lang="en-US" sz="1600" dirty="0" err="1"/>
              <a:t>estrutura</a:t>
            </a:r>
            <a:r>
              <a:rPr lang="en-US" sz="1600" dirty="0"/>
              <a:t> visual dos slides</a:t>
            </a:r>
          </a:p>
          <a:p>
            <a:pPr>
              <a:lnSpc>
                <a:spcPct val="105000"/>
              </a:lnSpc>
              <a:spcAft>
                <a:spcPts val="1000"/>
              </a:spcAft>
              <a:buSzPct val="100000"/>
            </a:pP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4101112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395926-8A8A-1547-9385-C1DA1BC6515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76ba706-ff03-4f61-b847-1369df9227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20060</TotalTime>
  <Words>1293</Words>
  <Application>Microsoft Macintosh PowerPoint</Application>
  <PresentationFormat>Ecrã Panorâmico</PresentationFormat>
  <Paragraphs>342</Paragraphs>
  <Slides>18</Slides>
  <Notes>18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Downstream Analysis of Gut Microbiome Responses to Mangaba</dc:title>
  <dc:subject>PptxGenJS Presentation</dc:subject>
  <dc:creator>Diana Oliveira</dc:creator>
  <cp:lastModifiedBy>Diana Filipa Freitas Oliveira</cp:lastModifiedBy>
  <cp:revision>14</cp:revision>
  <dcterms:created xsi:type="dcterms:W3CDTF">2026-05-28T08:02:39Z</dcterms:created>
  <dcterms:modified xsi:type="dcterms:W3CDTF">2026-06-19T15:03:09Z</dcterms:modified>
</cp:coreProperties>
</file>